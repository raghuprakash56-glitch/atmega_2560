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judges. Our project is Smart Parking Assist. It runs on the ATmega2560 chip, which is the brain of the Arduino Mega 2560 board. The goal is simple: find out if a parking slot is free or occupied, and tell the driver using a display, LEDs and a buzzer. The special part is how we built it. We did not use Arduino library functions. We wrote our own drivers that talk straight to the chip registers. This is called bare-metal programming. Please replace the bracketed placeholders with our names, college, department and hackathon name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Cars waste time and fuel searching for a free slot. Our solution reads sensors and shows the result clearly. Follow the block diagram from left to right. Sensors are the HC-SR04 ultrasonic sensor and an IR sensor. Their signals go into our bare-metal drivers: gpio, timer, pwm, ultra, adc and display. The application logic compares readings with thresholds and decides the parking state. Then the outputs show it: seven-segment display, LEDs and a buzzer. Everything runs on the ATmega2560 at 16 MHz. The green box lists core features from our brief, and we must confirm each one against our source code. The amber box lists proposed future features, so we do not claim them as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GPIO driver. Every pin on the ATmega2560 is controlled by three registers. DDRx decides direction: 1 means output and 0 means input. PORTx sets the output level, HIGH or LOW. PINx lets us read the real pin level. In the code, the shift operator creates a mask with a single bit set. The OR operator sets that bit and the AND with an inverted mask clears it, so other pins are never disturbed. The word volatile tells the compiler the register can change by itself, so it must always read it. We made a reusable driver so that this tricky bit code exists in one tested place. Other drivers, like ultrasonic and display, call it. The code shown is an example. Before presenting, check that the function names match our gpio.h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timer driver uses Timer1 in CTC mode. CTC means Clear Timer on Compare match. The counter TCNT1 counts up, and when it reaches the value in OCR1A, hardware sets a flag and restarts from zero. The prescaler divides the 16 MHz clock by 64, so the timer runs at 250 kHz. One tick is 4 microseconds. With OCR1A equal to 249 we count 250 ticks, which is exactly 1 millisecond. A hardware timer is better than a software delay because the CPU is free to do other jobs. We can either poll the flag or use an interrupt. Important: these numbers are the standard example. Check timer.c, and if our real values differ, update this slide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PWM means Pulse Width Modulation. We switch a pin on and off very fast, and the duty cycle, the percentage of time it is HIGH, controls the average power. We use Timer3 in 8-bit Fast PWM mode with prescaler 64. The output is OC3A on pin PE3, which is Arduino Mega pin D5. Frequency is 16 million divided by 64 times 256, which is about 976.56 hertz. With OCR3A equal to 128, duty is about 50 percent. A quick formula gives 50.2 percent. The exact hardware value is 129 out of 256, which is 50.4 percent. Both are fine to mention. The hardware does the work: the counter runs 0 to 255, the pin goes HIGH at zero, and goes LOW when the counter matches OCR3A. The CPU does nothing for each cycle. Phase Correct mode counts up and down, so it is slower, about 490 hertz. Important: these settings are not confirmed until we check pwm.c.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HC-SR04 measures distance with sound. We set the TRIG pin HIGH for at least 10 microseconds. The sensor sends eight bursts of 40 kilohertz sound. Then the ECHO pin goes HIGH and stays HIGH until the sound comes back. Our driver measures how long ECHO stays HIGH. Sound travels about 343 metres per second, and the sound goes to the object and back, so we divide by 2. This gives distance in centimetres is roughly time in microseconds divided by 58. For example, 1160 microseconds is about 20 centimetres. We add a timeout so the program never waits forever if there is no echo. If the reading is zero, check the common causes in the amber box: no echo, swapped wires, short trigger pulse or bad timeout. The pin names in brackets must be filled from our ultra.h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ADC, or Analog to Digital Converter, turns a voltage into a number. Ours is 10-bit, so it gives 1024 levels from 0 to 1023. With a 5 volt reference, each step is about 4.9 millivolts. We set the reference in ADMUX and choose the channel. In ADCSRA we enable the ADC, choose a prescaler of 128 so the ADC clock is 125 kilohertz, and start a conversion by setting ADSC. When the hardware clears that bit, the result is ready in the ADC register. A digital IR sensor gives only 0 or 1. An analog IR sensor gives a voltage level, which we compare with a threshold to decide the parking state. An ADC value of 512 is about 2.5 volts. It is not 512 centimetres and not a distance, because IR output changes with surface and light. Fill the threshold and state names only from our real source code. Note: channels 8 to 15 on the Mega also need the MUX5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seven-segment digit has seven LEDs, called a to g. A lookup table stores which segments to light for each number. For a common cathode display, a 1 turns a segment on, so zero is 0x3F. For a common anode display it is the opposite, so zero is 0xC0. To use two digits with few pins, we multiplex. All segment lines are shared, and we switch digit-select lines. We light digit one for a few milliseconds, then digit two, again and again. Our eyes see both digits lit. If other code blocks for too long, the refresh slows and the display flickers. The data flow is on the left: sensor reading, distance or state, split into tens and ones, table lookup, then output on the port pins. LEDs use gpio_write. The buzzer may use GPIO or the PWM output on D5. Please confirm which display type and buzzer method our hardware really uses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built Smart Parking Assist using bare-metal drivers on the ATmega2560. We controlled hardware by writing registers directly, we calculated timer and PWM settings from the clock and prescaler, we connected ultrasonic and IR sensors, and we organised the code into small reusable .c and .h modules. Our key lesson was to read the datasheet first and check every register bit. For the future, we can filter noisy sensor readings, refresh the display from a timer interrupt so it never blocks, and extend the system to many parking slots. Now we are ready for viva. Four likely questions are on the slide: why use registers, what DDRx does, how we make 1 millisecond, and why ADC 512 is not centimetres. Before presenting, make sure the numbers match our real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122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72161"/>
            <a:ext cx="5836841" cy="391160"/>
          </a:xfrm>
          <a:prstGeom prst="rect">
            <a:avLst/>
          </a:prstGeom>
          <a:noFill/>
          <a:ln/>
        </p:spPr>
        <p:txBody>
          <a:bodyPr wrap="square" lIns="0" tIns="0" rIns="0" bIns="0" rtlCol="0" anchor="t"/>
          <a:lstStyle>
            <a:lvl1pPr algn="l" indent="0" marL="0">
              <a:lnSpc>
                <a:spcPct val="115000"/>
              </a:lnSpc>
              <a:buNone/>
              <a:defRPr lang="en-US" sz="2800" dirty="0">
                <a:solidFill>
                  <a:srgbClr val="E6EDF7"/>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468121"/>
            <a:ext cx="10566400" cy="4577079"/>
          </a:xfrm>
          <a:prstGeom prst="rect">
            <a:avLst/>
          </a:prstGeom>
          <a:noFill/>
          <a:ln/>
        </p:spPr>
        <p:txBody>
          <a:bodyPr wrap="square" lIns="0" tIns="0" rIns="0" bIns="0" rtlCol="0" anchor="t"/>
          <a:lstStyle>
            <a:lvl1pPr algn="l" indent="0" marL="0">
              <a:lnSpc>
                <a:spcPct val="140000"/>
              </a:lnSpc>
              <a:buNone/>
              <a:defRPr lang="en-US" sz="1600" dirty="0">
                <a:solidFill>
                  <a:srgbClr val="E6EDF7"/>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122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72161"/>
            <a:ext cx="5836841" cy="391160"/>
          </a:xfrm>
          <a:prstGeom prst="rect">
            <a:avLst/>
          </a:prstGeom>
          <a:noFill/>
          <a:ln/>
        </p:spPr>
        <p:txBody>
          <a:bodyPr wrap="square" lIns="0" tIns="0" rIns="0" bIns="0" rtlCol="0" anchor="t"/>
          <a:lstStyle>
            <a:lvl1pPr algn="l" indent="0" marL="0">
              <a:lnSpc>
                <a:spcPct val="115000"/>
              </a:lnSpc>
              <a:buNone/>
              <a:defRPr lang="en-US" sz="2800" dirty="0">
                <a:solidFill>
                  <a:srgbClr val="E6EDF7"/>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468121"/>
            <a:ext cx="10566400" cy="4577079"/>
          </a:xfrm>
          <a:prstGeom prst="rect">
            <a:avLst/>
          </a:prstGeom>
          <a:noFill/>
          <a:ln/>
        </p:spPr>
        <p:txBody>
          <a:bodyPr wrap="square" lIns="0" tIns="0" rIns="0" bIns="0" rtlCol="0" anchor="t"/>
          <a:lstStyle>
            <a:lvl1pPr algn="l" indent="0" marL="0">
              <a:lnSpc>
                <a:spcPct val="140000"/>
              </a:lnSpc>
              <a:buNone/>
              <a:defRPr lang="en-US" sz="1600" dirty="0">
                <a:solidFill>
                  <a:srgbClr val="E6EDF7"/>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B1220"/>
              </a:gs>
              <a:gs pos="100000">
                <a:srgbClr val="12223D"/>
              </a:gs>
            </a:gsLst>
            <a:lin ang="2700000" scaled="0"/>
          </a:gradFill>
          <a:ln/>
        </p:spPr>
      </p:sp>
      <p:pic>
        <p:nvPicPr>
          <p:cNvPr id="3" name="Image 0" descr="Stylised microcontroller chip with pins on all four sides">    </p:cNvPr>
          <p:cNvPicPr>
            <a:picLocks noChangeAspect="1"/>
          </p:cNvPicPr>
          <p:nvPr/>
        </p:nvPicPr>
        <p:blipFill>
          <a:blip r:embed="rId1"/>
          <a:srcRect l="0" r="0" t="0" b="0"/>
          <a:stretch/>
        </p:blipFill>
        <p:spPr>
          <a:xfrm>
            <a:off x="7175500" y="1651000"/>
            <a:ext cx="3556000" cy="3556000"/>
          </a:xfrm>
          <a:prstGeom prst="rect">
            <a:avLst/>
          </a:prstGeom>
        </p:spPr>
      </p:pic>
      <p:sp>
        <p:nvSpPr>
          <p:cNvPr id="4" name="Text 1"/>
          <p:cNvSpPr/>
          <p:nvPr/>
        </p:nvSpPr>
        <p:spPr>
          <a:xfrm>
            <a:off x="7841615" y="3175000"/>
            <a:ext cx="222377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22D3EE"/>
                </a:solidFill>
                <a:latin typeface="JetBrains Mono" pitchFamily="49" charset="0"/>
                <a:ea typeface="JetBrains Mono" pitchFamily="49" charset="-122"/>
                <a:cs typeface="JetBrains Mono" pitchFamily="49" charset="-120"/>
              </a:rPr>
              <a:t>ATmega2560</a:t>
            </a:r>
            <a:endParaRPr lang="en-US" sz="1800" dirty="0"/>
          </a:p>
        </p:txBody>
      </p:sp>
      <p:sp>
        <p:nvSpPr>
          <p:cNvPr id="5" name="Text 2"/>
          <p:cNvSpPr/>
          <p:nvPr/>
        </p:nvSpPr>
        <p:spPr>
          <a:xfrm>
            <a:off x="7841615" y="3530600"/>
            <a:ext cx="222377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FB0C8"/>
                </a:solidFill>
                <a:latin typeface="JetBrains Mono" pitchFamily="49" charset="0"/>
                <a:ea typeface="JetBrains Mono" pitchFamily="49" charset="-122"/>
                <a:cs typeface="JetBrains Mono" pitchFamily="49" charset="-120"/>
              </a:rPr>
              <a:t>16 MHz · 8-bit AVR</a:t>
            </a:r>
            <a:endParaRPr lang="en-US" sz="1200" dirty="0"/>
          </a:p>
        </p:txBody>
      </p:sp>
      <p:sp>
        <p:nvSpPr>
          <p:cNvPr id="6" name="Text 3"/>
          <p:cNvSpPr/>
          <p:nvPr/>
        </p:nvSpPr>
        <p:spPr>
          <a:xfrm>
            <a:off x="812800" y="1459230"/>
            <a:ext cx="627888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2D3EE"/>
                </a:solidFill>
                <a:latin typeface="JetBrains Mono" pitchFamily="49" charset="0"/>
                <a:ea typeface="JetBrains Mono" pitchFamily="49" charset="-122"/>
                <a:cs typeface="JetBrains Mono" pitchFamily="49" charset="-120"/>
              </a:rPr>
              <a:t>HACKATHON FINAL REVIEW · EMBEDDED SYSTEMS</a:t>
            </a:r>
            <a:endParaRPr lang="en-US" sz="1200" dirty="0"/>
          </a:p>
        </p:txBody>
      </p:sp>
      <p:sp>
        <p:nvSpPr>
          <p:cNvPr id="7" name="Text 4"/>
          <p:cNvSpPr/>
          <p:nvPr>
            <p:ph type="title"/>
          </p:nvPr>
        </p:nvSpPr>
        <p:spPr>
          <a:xfrm>
            <a:off x="812800" y="1850390"/>
            <a:ext cx="6278880" cy="15189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E6EDF7"/>
                </a:solidFill>
                <a:latin typeface="IBM Plex Sans" pitchFamily="34" charset="0"/>
                <a:ea typeface="IBM Plex Sans" pitchFamily="34" charset="-122"/>
                <a:cs typeface="IBM Plex Sans" pitchFamily="34" charset="-120"/>
              </a:rPr>
              <a:t>Smart Parking Assist</a:t>
            </a:r>
            <a:endParaRPr lang="en-US" sz="5600" dirty="0"/>
          </a:p>
        </p:txBody>
      </p:sp>
      <p:sp>
        <p:nvSpPr>
          <p:cNvPr id="8" name="Text 5"/>
          <p:cNvSpPr/>
          <p:nvPr/>
        </p:nvSpPr>
        <p:spPr>
          <a:xfrm>
            <a:off x="812800" y="3521710"/>
            <a:ext cx="6278880" cy="6197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9FB0C8"/>
                </a:solidFill>
                <a:latin typeface="IBM Plex Sans" pitchFamily="34" charset="0"/>
                <a:ea typeface="IBM Plex Sans" pitchFamily="34" charset="-122"/>
                <a:cs typeface="IBM Plex Sans" pitchFamily="34" charset="-120"/>
              </a:rPr>
              <a:t>ATmega2560-based smart parking system using bare-metal drivers</a:t>
            </a:r>
            <a:endParaRPr lang="en-US" sz="1800" dirty="0"/>
          </a:p>
        </p:txBody>
      </p:sp>
      <p:sp>
        <p:nvSpPr>
          <p:cNvPr id="9" name="Text 6"/>
          <p:cNvSpPr/>
          <p:nvPr/>
        </p:nvSpPr>
        <p:spPr>
          <a:xfrm>
            <a:off x="812800" y="4293870"/>
            <a:ext cx="6096000" cy="1104900"/>
          </a:xfrm>
          <a:prstGeom prst="roundRect">
            <a:avLst>
              <a:gd name="adj" fmla="val 6897"/>
            </a:avLst>
          </a:prstGeom>
          <a:solidFill>
            <a:srgbClr val="131C2E"/>
          </a:solidFill>
          <a:ln/>
        </p:spPr>
        <p:txBody>
          <a:bodyPr wrap="square" lIns="191042" tIns="130082" rIns="0" bIns="104682" rtlCol="0" anchor="t">
            <a:normAutofit/>
          </a:bodyPr>
          <a:lstStyle/>
          <a:p>
            <a:pPr algn="l" indent="0" marL="0">
              <a:lnSpc>
                <a:spcPts val="2100"/>
              </a:lnSpc>
              <a:buNone/>
            </a:pPr>
            <a:r>
              <a:rPr lang="en-US" sz="1500" dirty="0">
                <a:solidFill>
                  <a:srgbClr val="22D3EE"/>
                </a:solidFill>
                <a:latin typeface="IBM Plex Sans" pitchFamily="34" charset="0"/>
                <a:ea typeface="IBM Plex Sans" pitchFamily="34" charset="-122"/>
                <a:cs typeface="IBM Plex Sans" pitchFamily="34" charset="-120"/>
              </a:rPr>
              <a:t>Objective:</a:t>
            </a:r>
            <a:r>
              <a:rPr lang="en-US" sz="1500" dirty="0">
                <a:solidFill>
                  <a:srgbClr val="E6EDF7"/>
                </a:solidFill>
                <a:latin typeface="IBM Plex Sans" pitchFamily="34" charset="0"/>
                <a:ea typeface="IBM Plex Sans" pitchFamily="34" charset="-122"/>
                <a:cs typeface="IBM Plex Sans" pitchFamily="34" charset="-120"/>
              </a:rPr>
              <a:t> detect parking-slot occupancy with ultrasonic and IR sensors using register-level C drivers, and show the status on a seven-segment display, LEDs and a buzzer.</a:t>
            </a:r>
            <a:endParaRPr lang="en-US" sz="1500" dirty="0"/>
          </a:p>
        </p:txBody>
      </p:sp>
      <p:sp>
        <p:nvSpPr>
          <p:cNvPr id="10" name="Shape 7"/>
          <p:cNvSpPr/>
          <p:nvPr/>
        </p:nvSpPr>
        <p:spPr>
          <a:xfrm>
            <a:off x="812800" y="4293870"/>
            <a:ext cx="6096000" cy="1104900"/>
          </a:xfrm>
          <a:custGeom>
            <a:avLst/>
            <a:gdLst/>
            <a:ahLst/>
            <a:cxnLst/>
            <a:rect l="l" t="t" r="r" b="b"/>
            <a:pathLst>
              <a:path w="6096000" h="1104900">
                <a:moveTo>
                  <a:pt x="76200" y="1104900"/>
                </a:moveTo>
                <a:lnTo>
                  <a:pt x="76200" y="1104900"/>
                </a:lnTo>
                <a:arcTo hR="76200" wR="76200" stAng="5400000" swAng="5400000"/>
                <a:lnTo>
                  <a:pt x="0" y="76200"/>
                </a:lnTo>
                <a:arcTo hR="76200" wR="76200" stAng="10800000" swAng="5400000"/>
                <a:lnTo>
                  <a:pt x="76200" y="0"/>
                </a:lnTo>
                <a:arcTo hR="76200" wR="38100" stAng="16200000" swAng="-5400000"/>
                <a:lnTo>
                  <a:pt x="38100" y="1028700"/>
                </a:lnTo>
                <a:arcTo hR="76200" wR="38100" stAng="10800000" swAng="-5400000"/>
                <a:close/>
              </a:path>
            </a:pathLst>
          </a:custGeom>
          <a:solidFill>
            <a:srgbClr val="22D3E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5080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2D3EE"/>
                </a:solidFill>
                <a:latin typeface="JetBrains Mono" pitchFamily="49" charset="0"/>
                <a:ea typeface="JetBrains Mono" pitchFamily="49" charset="-122"/>
                <a:cs typeface="JetBrains Mono" pitchFamily="49" charset="-120"/>
              </a:rPr>
              <a:t>02 · PROBLEM AND ARCHITECTURE</a:t>
            </a:r>
            <a:endParaRPr lang="en-US" sz="1200" dirty="0"/>
          </a:p>
        </p:txBody>
      </p:sp>
      <p:sp>
        <p:nvSpPr>
          <p:cNvPr id="3" name="Text 1"/>
          <p:cNvSpPr/>
          <p:nvPr>
            <p:ph type="title"/>
          </p:nvPr>
        </p:nvSpPr>
        <p:spPr>
          <a:xfrm>
            <a:off x="812800" y="772160"/>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6EDF7"/>
                </a:solidFill>
                <a:latin typeface="IBM Plex Sans" pitchFamily="34" charset="0"/>
                <a:ea typeface="IBM Plex Sans" pitchFamily="34" charset="-122"/>
                <a:cs typeface="IBM Plex Sans" pitchFamily="34" charset="-120"/>
              </a:rPr>
              <a:t>From Slot Sensor to Driver Display</a:t>
            </a:r>
            <a:endParaRPr lang="en-US" sz="2800" dirty="0"/>
          </a:p>
        </p:txBody>
      </p:sp>
      <p:sp>
        <p:nvSpPr>
          <p:cNvPr id="4" name="Shape 2"/>
          <p:cNvSpPr/>
          <p:nvPr/>
        </p:nvSpPr>
        <p:spPr>
          <a:xfrm>
            <a:off x="815975" y="1344295"/>
            <a:ext cx="5200650" cy="1129030"/>
          </a:xfrm>
          <a:prstGeom prst="roundRect">
            <a:avLst>
              <a:gd name="adj" fmla="val 8718"/>
            </a:avLst>
          </a:prstGeom>
          <a:solidFill>
            <a:srgbClr val="131C2E"/>
          </a:solidFill>
          <a:ln w="6350">
            <a:solidFill>
              <a:srgbClr val="24324A"/>
            </a:solidFill>
            <a:prstDash val="solid"/>
          </a:ln>
        </p:spPr>
      </p:sp>
      <p:sp>
        <p:nvSpPr>
          <p:cNvPr id="5" name="Text 3"/>
          <p:cNvSpPr/>
          <p:nvPr/>
        </p:nvSpPr>
        <p:spPr>
          <a:xfrm>
            <a:off x="995680" y="1524000"/>
            <a:ext cx="498647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2D3EE"/>
                </a:solidFill>
                <a:latin typeface="IBM Plex Sans" pitchFamily="34" charset="0"/>
                <a:ea typeface="IBM Plex Sans" pitchFamily="34" charset="-122"/>
                <a:cs typeface="IBM Plex Sans" pitchFamily="34" charset="-120"/>
              </a:rPr>
              <a:t>The problem</a:t>
            </a:r>
            <a:endParaRPr lang="en-US" sz="1600" dirty="0"/>
          </a:p>
        </p:txBody>
      </p:sp>
      <p:sp>
        <p:nvSpPr>
          <p:cNvPr id="6" name="Text 4"/>
          <p:cNvSpPr/>
          <p:nvPr/>
        </p:nvSpPr>
        <p:spPr>
          <a:xfrm>
            <a:off x="995680" y="1831340"/>
            <a:ext cx="498647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DF7"/>
                </a:solidFill>
                <a:latin typeface="IBM Plex Sans" pitchFamily="34" charset="0"/>
                <a:ea typeface="IBM Plex Sans" pitchFamily="34" charset="-122"/>
                <a:cs typeface="IBM Plex Sans" pitchFamily="34" charset="-120"/>
              </a:rPr>
              <a:t>Drivers circle the lot looking for a free slot. That wastes time and fuel, and manual checking does not scale.</a:t>
            </a:r>
            <a:endParaRPr lang="en-US" sz="1300" dirty="0"/>
          </a:p>
        </p:txBody>
      </p:sp>
      <p:sp>
        <p:nvSpPr>
          <p:cNvPr id="7" name="Shape 5"/>
          <p:cNvSpPr/>
          <p:nvPr/>
        </p:nvSpPr>
        <p:spPr>
          <a:xfrm>
            <a:off x="6175375" y="1344295"/>
            <a:ext cx="5200650" cy="1129030"/>
          </a:xfrm>
          <a:prstGeom prst="roundRect">
            <a:avLst>
              <a:gd name="adj" fmla="val 8718"/>
            </a:avLst>
          </a:prstGeom>
          <a:solidFill>
            <a:srgbClr val="131C2E"/>
          </a:solidFill>
          <a:ln w="6350">
            <a:solidFill>
              <a:srgbClr val="24324A"/>
            </a:solidFill>
            <a:prstDash val="solid"/>
          </a:ln>
        </p:spPr>
      </p:sp>
      <p:sp>
        <p:nvSpPr>
          <p:cNvPr id="8" name="Text 6"/>
          <p:cNvSpPr/>
          <p:nvPr/>
        </p:nvSpPr>
        <p:spPr>
          <a:xfrm>
            <a:off x="6355080" y="1524000"/>
            <a:ext cx="498647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ADE80"/>
                </a:solidFill>
                <a:latin typeface="IBM Plex Sans" pitchFamily="34" charset="0"/>
                <a:ea typeface="IBM Plex Sans" pitchFamily="34" charset="-122"/>
                <a:cs typeface="IBM Plex Sans" pitchFamily="34" charset="-120"/>
              </a:rPr>
              <a:t>Our solution</a:t>
            </a:r>
            <a:endParaRPr lang="en-US" sz="1600" dirty="0"/>
          </a:p>
        </p:txBody>
      </p:sp>
      <p:sp>
        <p:nvSpPr>
          <p:cNvPr id="9" name="Text 7"/>
          <p:cNvSpPr/>
          <p:nvPr/>
        </p:nvSpPr>
        <p:spPr>
          <a:xfrm>
            <a:off x="6355080" y="1831340"/>
            <a:ext cx="498647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DF7"/>
                </a:solidFill>
                <a:latin typeface="IBM Plex Sans" pitchFamily="34" charset="0"/>
                <a:ea typeface="IBM Plex Sans" pitchFamily="34" charset="-122"/>
                <a:cs typeface="IBM Plex Sans" pitchFamily="34" charset="-120"/>
              </a:rPr>
              <a:t>Sensors detect occupancy. Bare-metal C drivers read them and show the slot status on a display, LEDs and a buzzer.</a:t>
            </a:r>
            <a:endParaRPr lang="en-US" sz="1300" dirty="0"/>
          </a:p>
        </p:txBody>
      </p:sp>
      <p:sp>
        <p:nvSpPr>
          <p:cNvPr id="10" name="Shape 8"/>
          <p:cNvSpPr/>
          <p:nvPr/>
        </p:nvSpPr>
        <p:spPr>
          <a:xfrm>
            <a:off x="819150" y="2660650"/>
            <a:ext cx="2247900" cy="1003300"/>
          </a:xfrm>
          <a:prstGeom prst="roundRect">
            <a:avLst>
              <a:gd name="adj" fmla="val 9494"/>
            </a:avLst>
          </a:prstGeom>
          <a:solidFill>
            <a:srgbClr val="131C2E"/>
          </a:solidFill>
          <a:ln w="12700">
            <a:solidFill>
              <a:srgbClr val="22D3EE"/>
            </a:solidFill>
            <a:prstDash val="solid"/>
          </a:ln>
        </p:spPr>
      </p:sp>
      <p:sp>
        <p:nvSpPr>
          <p:cNvPr id="11" name="Text 9"/>
          <p:cNvSpPr/>
          <p:nvPr/>
        </p:nvSpPr>
        <p:spPr>
          <a:xfrm>
            <a:off x="975360" y="2816860"/>
            <a:ext cx="19935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D3EE"/>
                </a:solidFill>
                <a:latin typeface="JetBrains Mono" pitchFamily="49" charset="0"/>
                <a:ea typeface="JetBrains Mono" pitchFamily="49" charset="-122"/>
                <a:cs typeface="JetBrains Mono" pitchFamily="49" charset="-120"/>
              </a:rPr>
              <a:t>SENSORS</a:t>
            </a:r>
            <a:endParaRPr lang="en-US" sz="1200" dirty="0"/>
          </a:p>
        </p:txBody>
      </p:sp>
      <p:sp>
        <p:nvSpPr>
          <p:cNvPr id="12" name="Text 10"/>
          <p:cNvSpPr/>
          <p:nvPr/>
        </p:nvSpPr>
        <p:spPr>
          <a:xfrm>
            <a:off x="975360" y="3081020"/>
            <a:ext cx="199354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HC-SR04 ultrasonic</a:t>
            </a:r>
            <a:endParaRPr lang="en-US" sz="1200" dirty="0"/>
          </a:p>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IR sensor (ADC / digital)</a:t>
            </a:r>
            <a:endParaRPr lang="en-US" sz="1200" dirty="0"/>
          </a:p>
        </p:txBody>
      </p:sp>
      <p:pic>
        <p:nvPicPr>
          <p:cNvPr id="13" name="Image 0" descr="arrow-right">    </p:cNvPr>
          <p:cNvPicPr>
            <a:picLocks noChangeAspect="1"/>
          </p:cNvPicPr>
          <p:nvPr/>
        </p:nvPicPr>
        <p:blipFill>
          <a:blip r:embed="rId1"/>
          <a:srcRect l="0" r="0" t="0" b="0"/>
          <a:stretch/>
        </p:blipFill>
        <p:spPr>
          <a:xfrm>
            <a:off x="3175000" y="3073400"/>
            <a:ext cx="304800" cy="177800"/>
          </a:xfrm>
          <a:prstGeom prst="rect">
            <a:avLst/>
          </a:prstGeom>
        </p:spPr>
      </p:pic>
      <p:sp>
        <p:nvSpPr>
          <p:cNvPr id="14" name="Shape 11"/>
          <p:cNvSpPr/>
          <p:nvPr/>
        </p:nvSpPr>
        <p:spPr>
          <a:xfrm>
            <a:off x="3587750" y="2660650"/>
            <a:ext cx="2247900" cy="1003300"/>
          </a:xfrm>
          <a:prstGeom prst="roundRect">
            <a:avLst>
              <a:gd name="adj" fmla="val 9494"/>
            </a:avLst>
          </a:prstGeom>
          <a:solidFill>
            <a:srgbClr val="131C2E"/>
          </a:solidFill>
          <a:ln w="12700">
            <a:solidFill>
              <a:srgbClr val="22D3EE"/>
            </a:solidFill>
            <a:prstDash val="solid"/>
          </a:ln>
        </p:spPr>
      </p:sp>
      <p:sp>
        <p:nvSpPr>
          <p:cNvPr id="15" name="Text 12"/>
          <p:cNvSpPr/>
          <p:nvPr/>
        </p:nvSpPr>
        <p:spPr>
          <a:xfrm>
            <a:off x="3743960" y="2816860"/>
            <a:ext cx="19935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D3EE"/>
                </a:solidFill>
                <a:latin typeface="JetBrains Mono" pitchFamily="49" charset="0"/>
                <a:ea typeface="JetBrains Mono" pitchFamily="49" charset="-122"/>
                <a:cs typeface="JetBrains Mono" pitchFamily="49" charset="-120"/>
              </a:rPr>
              <a:t>BARE-METAL DRIVERS</a:t>
            </a:r>
            <a:endParaRPr lang="en-US" sz="1200" dirty="0"/>
          </a:p>
        </p:txBody>
      </p:sp>
      <p:sp>
        <p:nvSpPr>
          <p:cNvPr id="16" name="Text 13"/>
          <p:cNvSpPr/>
          <p:nvPr/>
        </p:nvSpPr>
        <p:spPr>
          <a:xfrm>
            <a:off x="3743960" y="3081020"/>
            <a:ext cx="199354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gpio · timer · pwm</a:t>
            </a:r>
            <a:endParaRPr lang="en-US" sz="1200" dirty="0"/>
          </a:p>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ultra · adc · display</a:t>
            </a:r>
            <a:endParaRPr lang="en-US" sz="1200" dirty="0"/>
          </a:p>
        </p:txBody>
      </p:sp>
      <p:pic>
        <p:nvPicPr>
          <p:cNvPr id="17" name="Image 1" descr="arrow-right">    </p:cNvPr>
          <p:cNvPicPr>
            <a:picLocks noChangeAspect="1"/>
          </p:cNvPicPr>
          <p:nvPr/>
        </p:nvPicPr>
        <p:blipFill>
          <a:blip r:embed="rId2"/>
          <a:srcRect l="0" r="0" t="0" b="0"/>
          <a:stretch/>
        </p:blipFill>
        <p:spPr>
          <a:xfrm>
            <a:off x="5943600" y="3073400"/>
            <a:ext cx="304800" cy="177800"/>
          </a:xfrm>
          <a:prstGeom prst="rect">
            <a:avLst/>
          </a:prstGeom>
        </p:spPr>
      </p:pic>
      <p:sp>
        <p:nvSpPr>
          <p:cNvPr id="18" name="Shape 14"/>
          <p:cNvSpPr/>
          <p:nvPr/>
        </p:nvSpPr>
        <p:spPr>
          <a:xfrm>
            <a:off x="6356350" y="2660650"/>
            <a:ext cx="2247900" cy="1003300"/>
          </a:xfrm>
          <a:prstGeom prst="roundRect">
            <a:avLst>
              <a:gd name="adj" fmla="val 9494"/>
            </a:avLst>
          </a:prstGeom>
          <a:solidFill>
            <a:srgbClr val="131C2E"/>
          </a:solidFill>
          <a:ln w="12700">
            <a:solidFill>
              <a:srgbClr val="22D3EE"/>
            </a:solidFill>
            <a:prstDash val="solid"/>
          </a:ln>
        </p:spPr>
      </p:sp>
      <p:sp>
        <p:nvSpPr>
          <p:cNvPr id="19" name="Text 15"/>
          <p:cNvSpPr/>
          <p:nvPr/>
        </p:nvSpPr>
        <p:spPr>
          <a:xfrm>
            <a:off x="6512560" y="2816860"/>
            <a:ext cx="19935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D3EE"/>
                </a:solidFill>
                <a:latin typeface="JetBrains Mono" pitchFamily="49" charset="0"/>
                <a:ea typeface="JetBrains Mono" pitchFamily="49" charset="-122"/>
                <a:cs typeface="JetBrains Mono" pitchFamily="49" charset="-120"/>
              </a:rPr>
              <a:t>APPLICATION LOGIC</a:t>
            </a:r>
            <a:endParaRPr lang="en-US" sz="1200" dirty="0"/>
          </a:p>
        </p:txBody>
      </p:sp>
      <p:sp>
        <p:nvSpPr>
          <p:cNvPr id="20" name="Text 16"/>
          <p:cNvSpPr/>
          <p:nvPr/>
        </p:nvSpPr>
        <p:spPr>
          <a:xfrm>
            <a:off x="6512560" y="3081020"/>
            <a:ext cx="199354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Thresholds → parking state</a:t>
            </a:r>
            <a:endParaRPr lang="en-US" sz="1200" dirty="0"/>
          </a:p>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FREE / OCCUPIED</a:t>
            </a:r>
            <a:endParaRPr lang="en-US" sz="1200" dirty="0"/>
          </a:p>
        </p:txBody>
      </p:sp>
      <p:pic>
        <p:nvPicPr>
          <p:cNvPr id="21" name="Image 2" descr="arrow-right">    </p:cNvPr>
          <p:cNvPicPr>
            <a:picLocks noChangeAspect="1"/>
          </p:cNvPicPr>
          <p:nvPr/>
        </p:nvPicPr>
        <p:blipFill>
          <a:blip r:embed="rId3"/>
          <a:srcRect l="0" r="0" t="0" b="0"/>
          <a:stretch/>
        </p:blipFill>
        <p:spPr>
          <a:xfrm>
            <a:off x="8712200" y="3073400"/>
            <a:ext cx="304800" cy="177800"/>
          </a:xfrm>
          <a:prstGeom prst="rect">
            <a:avLst/>
          </a:prstGeom>
        </p:spPr>
      </p:pic>
      <p:sp>
        <p:nvSpPr>
          <p:cNvPr id="22" name="Shape 17"/>
          <p:cNvSpPr/>
          <p:nvPr/>
        </p:nvSpPr>
        <p:spPr>
          <a:xfrm>
            <a:off x="9124950" y="2660650"/>
            <a:ext cx="2247900" cy="1003300"/>
          </a:xfrm>
          <a:prstGeom prst="roundRect">
            <a:avLst>
              <a:gd name="adj" fmla="val 9494"/>
            </a:avLst>
          </a:prstGeom>
          <a:solidFill>
            <a:srgbClr val="131C2E"/>
          </a:solidFill>
          <a:ln w="12700">
            <a:solidFill>
              <a:srgbClr val="4ADE80"/>
            </a:solidFill>
            <a:prstDash val="solid"/>
          </a:ln>
        </p:spPr>
      </p:sp>
      <p:sp>
        <p:nvSpPr>
          <p:cNvPr id="23" name="Text 18"/>
          <p:cNvSpPr/>
          <p:nvPr/>
        </p:nvSpPr>
        <p:spPr>
          <a:xfrm>
            <a:off x="9281160" y="2816860"/>
            <a:ext cx="19935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DE80"/>
                </a:solidFill>
                <a:latin typeface="JetBrains Mono" pitchFamily="49" charset="0"/>
                <a:ea typeface="JetBrains Mono" pitchFamily="49" charset="-122"/>
                <a:cs typeface="JetBrains Mono" pitchFamily="49" charset="-120"/>
              </a:rPr>
              <a:t>OUTPUTS</a:t>
            </a:r>
            <a:endParaRPr lang="en-US" sz="1200" dirty="0"/>
          </a:p>
        </p:txBody>
      </p:sp>
      <p:sp>
        <p:nvSpPr>
          <p:cNvPr id="24" name="Text 19"/>
          <p:cNvSpPr/>
          <p:nvPr/>
        </p:nvSpPr>
        <p:spPr>
          <a:xfrm>
            <a:off x="9281160" y="3081020"/>
            <a:ext cx="199354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7-segment display</a:t>
            </a:r>
            <a:endParaRPr lang="en-US" sz="1200" dirty="0"/>
          </a:p>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LEDs · buzzer</a:t>
            </a:r>
            <a:endParaRPr lang="en-US" sz="1200" dirty="0"/>
          </a:p>
        </p:txBody>
      </p:sp>
      <p:sp>
        <p:nvSpPr>
          <p:cNvPr id="25" name="Text 20"/>
          <p:cNvSpPr/>
          <p:nvPr/>
        </p:nvSpPr>
        <p:spPr>
          <a:xfrm>
            <a:off x="815975" y="3851275"/>
            <a:ext cx="10560050" cy="412750"/>
          </a:xfrm>
          <a:prstGeom prst="roundRect">
            <a:avLst>
              <a:gd name="adj" fmla="val 17692"/>
            </a:avLst>
          </a:prstGeom>
          <a:noFill/>
          <a:ln w="6350">
            <a:solidFill>
              <a:srgbClr val="22D3EE"/>
            </a:solidFill>
            <a:prstDash val="solid"/>
          </a:ln>
        </p:spPr>
        <p:txBody>
          <a:bodyPr wrap="square" lIns="0" tIns="69417" rIns="0" bIns="44017" rtlCol="0" anchor="t">
            <a:normAutofit/>
          </a:bodyPr>
          <a:lstStyle/>
          <a:p>
            <a:pPr algn="ctr" indent="0" marL="0">
              <a:lnSpc>
                <a:spcPts val="1820"/>
              </a:lnSpc>
              <a:buNone/>
            </a:pPr>
            <a:r>
              <a:rPr lang="en-US" sz="1300" dirty="0">
                <a:solidFill>
                  <a:srgbClr val="E6EDF7"/>
                </a:solidFill>
                <a:latin typeface="JetBrains Mono" pitchFamily="49" charset="0"/>
                <a:ea typeface="JetBrains Mono" pitchFamily="49" charset="-122"/>
                <a:cs typeface="JetBrains Mono" pitchFamily="49" charset="-120"/>
              </a:rPr>
              <a:t>Arduino Mega 2560 · ATmega2560 @ 16 MHz</a:t>
            </a:r>
            <a:endParaRPr lang="en-US" sz="1300" dirty="0"/>
          </a:p>
        </p:txBody>
      </p:sp>
      <p:sp>
        <p:nvSpPr>
          <p:cNvPr id="26" name="Text 21"/>
          <p:cNvSpPr/>
          <p:nvPr/>
        </p:nvSpPr>
        <p:spPr>
          <a:xfrm>
            <a:off x="815975" y="4448175"/>
            <a:ext cx="10560050" cy="318770"/>
          </a:xfrm>
          <a:prstGeom prst="roundRect">
            <a:avLst>
              <a:gd name="adj" fmla="val 22908"/>
            </a:avLst>
          </a:prstGeom>
          <a:noFill/>
          <a:ln w="6350">
            <a:solidFill>
              <a:srgbClr val="4ADE80"/>
            </a:solidFill>
            <a:prstDash val="solid"/>
          </a:ln>
        </p:spPr>
        <p:txBody>
          <a:bodyPr wrap="square" lIns="107517" tIns="31317" rIns="0" bIns="5917" rtlCol="0" anchor="t">
            <a:normAutofit/>
          </a:bodyPr>
          <a:lstStyle/>
          <a:p>
            <a:pPr algn="l" indent="0" marL="0">
              <a:lnSpc>
                <a:spcPts val="1680"/>
              </a:lnSpc>
              <a:buNone/>
            </a:pPr>
            <a:r>
              <a:rPr lang="en-US" sz="1200" dirty="0">
                <a:solidFill>
                  <a:srgbClr val="4ADE80"/>
                </a:solidFill>
                <a:latin typeface="IBM Plex Sans" pitchFamily="34" charset="0"/>
                <a:ea typeface="IBM Plex Sans" pitchFamily="34" charset="-122"/>
                <a:cs typeface="IBM Plex Sans" pitchFamily="34" charset="-120"/>
              </a:rPr>
              <a:t>CORE (per project brief): GPIO · Timer · PWM · Ultrasonic · ADC · Display. Verify each against the source.</a:t>
            </a:r>
            <a:endParaRPr lang="en-US" sz="1200" dirty="0"/>
          </a:p>
        </p:txBody>
      </p:sp>
      <p:sp>
        <p:nvSpPr>
          <p:cNvPr id="27" name="Text 22"/>
          <p:cNvSpPr/>
          <p:nvPr/>
        </p:nvSpPr>
        <p:spPr>
          <a:xfrm>
            <a:off x="815975" y="4836795"/>
            <a:ext cx="10560050" cy="318770"/>
          </a:xfrm>
          <a:prstGeom prst="roundRect">
            <a:avLst>
              <a:gd name="adj" fmla="val 22908"/>
            </a:avLst>
          </a:prstGeom>
          <a:noFill/>
          <a:ln w="6350">
            <a:solidFill>
              <a:srgbClr val="FBBF24"/>
            </a:solidFill>
            <a:prstDash val="solid"/>
          </a:ln>
        </p:spPr>
        <p:txBody>
          <a:bodyPr wrap="square" lIns="107517" tIns="31317" rIns="0" bIns="5917" rtlCol="0" anchor="t">
            <a:normAutofit/>
          </a:bodyPr>
          <a:lstStyle/>
          <a:p>
            <a:pPr algn="l" indent="0" marL="0">
              <a:lnSpc>
                <a:spcPts val="1680"/>
              </a:lnSpc>
              <a:buNone/>
            </a:pPr>
            <a:r>
              <a:rPr lang="en-US" sz="1200" dirty="0">
                <a:solidFill>
                  <a:srgbClr val="FBBF24"/>
                </a:solidFill>
                <a:latin typeface="IBM Plex Sans" pitchFamily="34" charset="0"/>
                <a:ea typeface="IBM Plex Sans" pitchFamily="34" charset="-122"/>
                <a:cs typeface="IBM Plex Sans" pitchFamily="34" charset="-120"/>
              </a:rPr>
              <a:t>PROPOSED: sensor filtering · non-blocking display refresh · multi-slot parking.</a:t>
            </a:r>
            <a:endParaRPr lang="en-US" sz="1200" dirty="0"/>
          </a:p>
        </p:txBody>
      </p:sp>
      <p:sp>
        <p:nvSpPr>
          <p:cNvPr id="28" name="Text 23"/>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A6"/>
                </a:solidFill>
                <a:latin typeface="IBM Plex Sans" pitchFamily="34" charset="0"/>
                <a:ea typeface="IBM Plex Sans" pitchFamily="34" charset="-122"/>
                <a:cs typeface="IBM Plex Sans" pitchFamily="34" charset="-120"/>
              </a:rPr>
              <a:t>Smart Parking Assist · ATmega2560 bare-metal drivers · 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508000"/>
            <a:ext cx="6011946"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2D3EE"/>
                </a:solidFill>
                <a:latin typeface="JetBrains Mono" pitchFamily="49" charset="0"/>
                <a:ea typeface="JetBrains Mono" pitchFamily="49" charset="-122"/>
                <a:cs typeface="JetBrains Mono" pitchFamily="49" charset="-120"/>
              </a:rPr>
              <a:t>03 · GPIO.C / GPIO.H</a:t>
            </a:r>
            <a:endParaRPr lang="en-US" sz="1200" dirty="0"/>
          </a:p>
        </p:txBody>
      </p:sp>
      <p:sp>
        <p:nvSpPr>
          <p:cNvPr id="3" name="Text 1"/>
          <p:cNvSpPr/>
          <p:nvPr>
            <p:ph type="title"/>
          </p:nvPr>
        </p:nvSpPr>
        <p:spPr>
          <a:xfrm>
            <a:off x="812800" y="772161"/>
            <a:ext cx="7004209"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6EDF7"/>
                </a:solidFill>
                <a:latin typeface="IBM Plex Sans" pitchFamily="34" charset="0"/>
                <a:ea typeface="IBM Plex Sans" pitchFamily="34" charset="-122"/>
                <a:cs typeface="IBM Plex Sans" pitchFamily="34" charset="-120"/>
              </a:rPr>
              <a:t>GPIO Driver: Register-Level Control</a:t>
            </a:r>
            <a:endParaRPr lang="en-US" sz="2800" dirty="0"/>
          </a:p>
        </p:txBody>
      </p:sp>
      <p:sp>
        <p:nvSpPr>
          <p:cNvPr id="4" name="Text 2"/>
          <p:cNvSpPr/>
          <p:nvPr/>
        </p:nvSpPr>
        <p:spPr>
          <a:xfrm>
            <a:off x="8283575" y="841375"/>
            <a:ext cx="3092450" cy="318770"/>
          </a:xfrm>
          <a:prstGeom prst="roundRect">
            <a:avLst>
              <a:gd name="adj" fmla="val 50000"/>
            </a:avLst>
          </a:prstGeom>
          <a:noFill/>
          <a:ln w="6350">
            <a:solidFill>
              <a:srgbClr val="FBBF24"/>
            </a:solidFill>
            <a:prstDash val="solid"/>
          </a:ln>
        </p:spPr>
        <p:txBody>
          <a:bodyPr wrap="none" lIns="0" tIns="0" rIns="0" bIns="0" rtlCol="0" anchor="ctr">
            <a:normAutofit/>
          </a:bodyPr>
          <a:lstStyle/>
          <a:p>
            <a:pPr algn="ctr" indent="0" marL="0">
              <a:lnSpc>
                <a:spcPts val="1680"/>
              </a:lnSpc>
              <a:buNone/>
            </a:pPr>
            <a:r>
              <a:rPr lang="en-US" sz="1200" dirty="0">
                <a:solidFill>
                  <a:srgbClr val="FBBF24"/>
                </a:solidFill>
                <a:latin typeface="JetBrains Mono" pitchFamily="49" charset="0"/>
                <a:ea typeface="JetBrains Mono" pitchFamily="49" charset="-122"/>
                <a:cs typeface="JetBrains Mono" pitchFamily="49" charset="-120"/>
              </a:rPr>
              <a:t>ILLUSTRATIVE · verify vs gpio.c</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351280"/>
          <a:ext cx="4561840" cy="1320800"/>
        </p:xfrm>
        <a:graphic>
          <a:graphicData uri="http://schemas.openxmlformats.org/drawingml/2006/table">
            <a:tbl>
              <a:tblPr/>
              <a:tblGrid>
                <a:gridCol w="1094842"/>
                <a:gridCol w="1368552"/>
                <a:gridCol w="2098446"/>
              </a:tblGrid>
              <a:tr h="330200">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Register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Role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E535C"/>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Bit meaning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E535C"/>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DDRx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Direction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1 = output, 0 = input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PORTx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Output level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1 = HIGH, 0 = 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PINx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Input level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bit = pin state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bl>
          </a:graphicData>
        </a:graphic>
      </p:graphicFrame>
      <p:sp>
        <p:nvSpPr>
          <p:cNvPr id="6" name="Shape 3"/>
          <p:cNvSpPr/>
          <p:nvPr/>
        </p:nvSpPr>
        <p:spPr>
          <a:xfrm>
            <a:off x="815975" y="2827655"/>
            <a:ext cx="4565650" cy="1591310"/>
          </a:xfrm>
          <a:prstGeom prst="roundRect">
            <a:avLst>
              <a:gd name="adj" fmla="val 6185"/>
            </a:avLst>
          </a:prstGeom>
          <a:solidFill>
            <a:srgbClr val="131C2E"/>
          </a:solidFill>
          <a:ln w="6350">
            <a:solidFill>
              <a:srgbClr val="24324A"/>
            </a:solidFill>
            <a:prstDash val="solid"/>
          </a:ln>
        </p:spPr>
      </p:sp>
      <p:sp>
        <p:nvSpPr>
          <p:cNvPr id="7" name="Text 4"/>
          <p:cNvSpPr/>
          <p:nvPr/>
        </p:nvSpPr>
        <p:spPr>
          <a:xfrm>
            <a:off x="995680" y="3007361"/>
            <a:ext cx="43324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ADE80"/>
                </a:solidFill>
                <a:latin typeface="IBM Plex Sans" pitchFamily="34" charset="0"/>
                <a:ea typeface="IBM Plex Sans" pitchFamily="34" charset="-122"/>
                <a:cs typeface="IBM Plex Sans" pitchFamily="34" charset="-120"/>
              </a:rPr>
              <a:t>Why a reusable driver?</a:t>
            </a:r>
            <a:endParaRPr lang="en-US" sz="1600" dirty="0"/>
          </a:p>
        </p:txBody>
      </p:sp>
      <p:sp>
        <p:nvSpPr>
          <p:cNvPr id="8" name="Text 5"/>
          <p:cNvSpPr/>
          <p:nvPr/>
        </p:nvSpPr>
        <p:spPr>
          <a:xfrm>
            <a:off x="1081024" y="3314700"/>
            <a:ext cx="4239463" cy="94996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E6EDF7"/>
                </a:solidFill>
                <a:latin typeface="IBM Plex Sans" pitchFamily="34" charset="0"/>
                <a:ea typeface="IBM Plex Sans" pitchFamily="34" charset="-122"/>
                <a:cs typeface="IBM Plex Sans" pitchFamily="34" charset="-120"/>
              </a:rPr>
              <a:t>Bit-twiddling lives in one tested place</a:t>
            </a:r>
            <a:endParaRPr lang="en-US" sz="1300" dirty="0"/>
          </a:p>
          <a:p>
            <a:pPr algn="l" marL="168656" indent="-168656">
              <a:lnSpc>
                <a:spcPts val="1820"/>
              </a:lnSpc>
              <a:buSzPct val="100000"/>
              <a:buChar char="•"/>
            </a:pPr>
            <a:r>
              <a:rPr lang="en-US" sz="1300" dirty="0">
                <a:solidFill>
                  <a:srgbClr val="E6EDF7"/>
                </a:solidFill>
                <a:latin typeface="IBM Plex Sans" pitchFamily="34" charset="0"/>
                <a:ea typeface="IBM Plex Sans" pitchFamily="34" charset="-122"/>
                <a:cs typeface="IBM Plex Sans" pitchFamily="34" charset="-120"/>
              </a:rPr>
              <a:t>App code reads clearly: gpio_write(LED, 1)</a:t>
            </a:r>
            <a:endParaRPr lang="en-US" sz="1300" dirty="0"/>
          </a:p>
          <a:p>
            <a:pPr algn="l" marL="168656" indent="-168656">
              <a:lnSpc>
                <a:spcPts val="1820"/>
              </a:lnSpc>
              <a:buSzPct val="100000"/>
              <a:buChar char="•"/>
            </a:pPr>
            <a:r>
              <a:rPr lang="en-US" sz="1300" dirty="0">
                <a:solidFill>
                  <a:srgbClr val="E6EDF7"/>
                </a:solidFill>
                <a:latin typeface="IBM Plex Sans" pitchFamily="34" charset="0"/>
                <a:ea typeface="IBM Plex Sans" pitchFamily="34" charset="-122"/>
                <a:cs typeface="IBM Plex Sans" pitchFamily="34" charset="-120"/>
              </a:rPr>
              <a:t>Change a pin once, not in 20 places</a:t>
            </a:r>
            <a:endParaRPr lang="en-US" sz="1300" dirty="0"/>
          </a:p>
          <a:p>
            <a:pPr algn="l" marL="168656" indent="-168656">
              <a:lnSpc>
                <a:spcPts val="1820"/>
              </a:lnSpc>
              <a:buSzPct val="100000"/>
              <a:buChar char="•"/>
            </a:pPr>
            <a:r>
              <a:rPr lang="en-US" sz="1300" dirty="0">
                <a:solidFill>
                  <a:srgbClr val="E6EDF7"/>
                </a:solidFill>
                <a:latin typeface="IBM Plex Sans" pitchFamily="34" charset="0"/>
                <a:ea typeface="IBM Plex Sans" pitchFamily="34" charset="-122"/>
                <a:cs typeface="IBM Plex Sans" pitchFamily="34" charset="-120"/>
              </a:rPr>
              <a:t>Reused by ultra, display, LED and buzzer</a:t>
            </a:r>
            <a:endParaRPr lang="en-US" sz="1300" dirty="0"/>
          </a:p>
        </p:txBody>
      </p:sp>
      <p:sp>
        <p:nvSpPr>
          <p:cNvPr id="9" name="Text 6"/>
          <p:cNvSpPr/>
          <p:nvPr/>
        </p:nvSpPr>
        <p:spPr>
          <a:xfrm>
            <a:off x="5537200" y="1341120"/>
            <a:ext cx="5842000" cy="2514600"/>
          </a:xfrm>
          <a:prstGeom prst="roundRect">
            <a:avLst>
              <a:gd name="adj" fmla="val 3030"/>
            </a:avLst>
          </a:prstGeom>
          <a:solidFill>
            <a:srgbClr val="0E1626"/>
          </a:solidFill>
          <a:ln/>
        </p:spPr>
        <p:txBody>
          <a:bodyPr wrap="square" lIns="216442" tIns="130082" rIns="18880" bIns="104682" rtlCol="0" anchor="t">
            <a:normAutofit/>
          </a:bodyPr>
          <a:lstStyle/>
          <a:p>
            <a:pPr algn="l" indent="0" marL="0">
              <a:lnSpc>
                <a:spcPts val="1740"/>
              </a:lnSpc>
              <a:buNone/>
            </a:pPr>
            <a:r>
              <a:rPr lang="en-US" sz="1200" dirty="0">
                <a:solidFill>
                  <a:srgbClr val="7C8DA6"/>
                </a:solidFill>
                <a:latin typeface="JetBrains Mono" pitchFamily="49" charset="0"/>
                <a:ea typeface="JetBrains Mono" pitchFamily="49" charset="-122"/>
                <a:cs typeface="JetBrains Mono" pitchFamily="49" charset="-120"/>
              </a:rPr>
              <a:t>// ILLUSTRATIVE</a:t>
            </a:r>
            <a:endParaRPr lang="en-US" sz="1200" dirty="0"/>
          </a:p>
          <a:p>
            <a:pPr algn="l" indent="0" marL="0">
              <a:lnSpc>
                <a:spcPts val="1740"/>
              </a:lnSpc>
              <a:buNone/>
            </a:pPr>
            <a:r>
              <a:rPr lang="en-US" sz="1200" dirty="0">
                <a:solidFill>
                  <a:srgbClr val="22D3EE"/>
                </a:solidFill>
                <a:latin typeface="JetBrains Mono" pitchFamily="49" charset="0"/>
                <a:ea typeface="JetBrains Mono" pitchFamily="49" charset="-122"/>
                <a:cs typeface="JetBrains Mono" pitchFamily="49" charset="-120"/>
              </a:rPr>
              <a:t>void</a:t>
            </a:r>
            <a:r>
              <a:rPr lang="en-US" sz="1200" dirty="0">
                <a:solidFill>
                  <a:srgbClr val="E6EDF7"/>
                </a:solidFill>
                <a:latin typeface="JetBrains Mono" pitchFamily="49" charset="0"/>
                <a:ea typeface="JetBrains Mono" pitchFamily="49" charset="-122"/>
                <a:cs typeface="JetBrains Mono" pitchFamily="49" charset="-120"/>
              </a:rPr>
              <a:t> gpio_mode(</a:t>
            </a:r>
            <a:r>
              <a:rPr lang="en-US" sz="1200" dirty="0">
                <a:solidFill>
                  <a:srgbClr val="22D3EE"/>
                </a:solidFill>
                <a:latin typeface="JetBrains Mono" pitchFamily="49" charset="0"/>
                <a:ea typeface="JetBrains Mono" pitchFamily="49" charset="-122"/>
                <a:cs typeface="JetBrains Mono" pitchFamily="49" charset="-120"/>
              </a:rPr>
              <a:t>volatile</a:t>
            </a:r>
            <a:r>
              <a:rPr lang="en-US" sz="1200" dirty="0">
                <a:solidFill>
                  <a:srgbClr val="E6EDF7"/>
                </a:solidFill>
                <a:latin typeface="JetBrains Mono" pitchFamily="49" charset="0"/>
                <a:ea typeface="JetBrains Mono" pitchFamily="49" charset="-122"/>
                <a:cs typeface="JetBrains Mono" pitchFamily="49" charset="-120"/>
              </a:rPr>
              <a:t> uint8_t *ddr,</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  uint8_t pin, uint8_t out) {</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  if (out) *ddr |= (1 &lt;&lt; pin);</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  else      *ddr &amp;= ~(1 &lt;&lt; pin);</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22D3EE"/>
                </a:solidFill>
                <a:latin typeface="JetBrains Mono" pitchFamily="49" charset="0"/>
                <a:ea typeface="JetBrains Mono" pitchFamily="49" charset="-122"/>
                <a:cs typeface="JetBrains Mono" pitchFamily="49" charset="-120"/>
              </a:rPr>
              <a:t>uint8_t</a:t>
            </a:r>
            <a:r>
              <a:rPr lang="en-US" sz="1200" dirty="0">
                <a:solidFill>
                  <a:srgbClr val="E6EDF7"/>
                </a:solidFill>
                <a:latin typeface="JetBrains Mono" pitchFamily="49" charset="0"/>
                <a:ea typeface="JetBrains Mono" pitchFamily="49" charset="-122"/>
                <a:cs typeface="JetBrains Mono" pitchFamily="49" charset="-120"/>
              </a:rPr>
              <a:t> gpio_read(</a:t>
            </a:r>
            <a:r>
              <a:rPr lang="en-US" sz="1200" dirty="0">
                <a:solidFill>
                  <a:srgbClr val="22D3EE"/>
                </a:solidFill>
                <a:latin typeface="JetBrains Mono" pitchFamily="49" charset="0"/>
                <a:ea typeface="JetBrains Mono" pitchFamily="49" charset="-122"/>
                <a:cs typeface="JetBrains Mono" pitchFamily="49" charset="-120"/>
              </a:rPr>
              <a:t>volatile</a:t>
            </a:r>
            <a:r>
              <a:rPr lang="en-US" sz="1200" dirty="0">
                <a:solidFill>
                  <a:srgbClr val="E6EDF7"/>
                </a:solidFill>
                <a:latin typeface="JetBrains Mono" pitchFamily="49" charset="0"/>
                <a:ea typeface="JetBrains Mono" pitchFamily="49" charset="-122"/>
                <a:cs typeface="JetBrains Mono" pitchFamily="49" charset="-120"/>
              </a:rPr>
              <a:t> uint8_t *pinr,</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  uint8_t pin) {</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  return (*pinr &gt;&gt; pin) &amp; 1;</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a:t>
            </a:r>
            <a:endParaRPr lang="en-US" sz="1200" dirty="0"/>
          </a:p>
        </p:txBody>
      </p:sp>
      <p:sp>
        <p:nvSpPr>
          <p:cNvPr id="10" name="Shape 7"/>
          <p:cNvSpPr/>
          <p:nvPr/>
        </p:nvSpPr>
        <p:spPr>
          <a:xfrm>
            <a:off x="5537200" y="1341120"/>
            <a:ext cx="5842000" cy="2514600"/>
          </a:xfrm>
          <a:custGeom>
            <a:avLst/>
            <a:gdLst/>
            <a:ahLst/>
            <a:cxnLst/>
            <a:rect l="l" t="t" r="r" b="b"/>
            <a:pathLst>
              <a:path w="5842000" h="2514600">
                <a:moveTo>
                  <a:pt x="76200" y="2514600"/>
                </a:moveTo>
                <a:lnTo>
                  <a:pt x="76200" y="2514600"/>
                </a:lnTo>
                <a:arcTo hR="76200" wR="76200" stAng="5400000" swAng="5400000"/>
                <a:lnTo>
                  <a:pt x="0" y="76200"/>
                </a:lnTo>
                <a:arcTo hR="76200" wR="76200" stAng="10800000" swAng="5400000"/>
                <a:lnTo>
                  <a:pt x="76200" y="0"/>
                </a:lnTo>
                <a:arcTo hR="76200" wR="38100" stAng="16200000" swAng="-5400000"/>
                <a:lnTo>
                  <a:pt x="38100" y="2438400"/>
                </a:lnTo>
                <a:arcTo hR="76200" wR="38100" stAng="10800000" swAng="-5400000"/>
                <a:close/>
              </a:path>
            </a:pathLst>
          </a:custGeom>
          <a:solidFill>
            <a:srgbClr val="22D3EE"/>
          </a:solidFill>
          <a:ln/>
        </p:spPr>
      </p:sp>
      <p:sp>
        <p:nvSpPr>
          <p:cNvPr id="11" name="Shape 8"/>
          <p:cNvSpPr/>
          <p:nvPr/>
        </p:nvSpPr>
        <p:spPr>
          <a:xfrm>
            <a:off x="5540375" y="4011295"/>
            <a:ext cx="5835650" cy="1162050"/>
          </a:xfrm>
          <a:prstGeom prst="roundRect">
            <a:avLst>
              <a:gd name="adj" fmla="val 8470"/>
            </a:avLst>
          </a:prstGeom>
          <a:solidFill>
            <a:srgbClr val="131C2E"/>
          </a:solidFill>
          <a:ln w="6350">
            <a:solidFill>
              <a:srgbClr val="24324A"/>
            </a:solidFill>
            <a:prstDash val="solid"/>
          </a:ln>
        </p:spPr>
      </p:sp>
      <p:sp>
        <p:nvSpPr>
          <p:cNvPr id="12" name="Text 9"/>
          <p:cNvSpPr/>
          <p:nvPr/>
        </p:nvSpPr>
        <p:spPr>
          <a:xfrm>
            <a:off x="5818886" y="4165600"/>
            <a:ext cx="5534101" cy="87884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E6EDF7"/>
                </a:solidFill>
                <a:latin typeface="IBM Plex Sans" pitchFamily="34" charset="0"/>
                <a:ea typeface="IBM Plex Sans" pitchFamily="34" charset="-122"/>
                <a:cs typeface="IBM Plex Sans" pitchFamily="34" charset="-120"/>
              </a:rPr>
              <a:t>|= (1 &lt;&lt; pin) sets one bit, the rest stay untouched</a:t>
            </a:r>
            <a:endParaRPr lang="en-US" sz="1200" dirty="0"/>
          </a:p>
          <a:p>
            <a:pPr algn="l" marL="155194" indent="-155194">
              <a:lnSpc>
                <a:spcPts val="1680"/>
              </a:lnSpc>
              <a:buSzPct val="100000"/>
              <a:buChar char="•"/>
            </a:pPr>
            <a:r>
              <a:rPr lang="en-US" sz="1200" dirty="0">
                <a:solidFill>
                  <a:srgbClr val="E6EDF7"/>
                </a:solidFill>
                <a:latin typeface="IBM Plex Sans" pitchFamily="34" charset="0"/>
                <a:ea typeface="IBM Plex Sans" pitchFamily="34" charset="-122"/>
                <a:cs typeface="IBM Plex Sans" pitchFamily="34" charset="-120"/>
              </a:rPr>
              <a:t>&amp;= ~(1 &lt;&lt; pin) clears one bit (the mask)</a:t>
            </a:r>
            <a:endParaRPr lang="en-US" sz="1200" dirty="0"/>
          </a:p>
          <a:p>
            <a:pPr algn="l" marL="155194" indent="-155194">
              <a:lnSpc>
                <a:spcPts val="1680"/>
              </a:lnSpc>
              <a:buSzPct val="100000"/>
              <a:buChar char="•"/>
            </a:pPr>
            <a:r>
              <a:rPr lang="en-US" sz="1200" dirty="0">
                <a:solidFill>
                  <a:srgbClr val="E6EDF7"/>
                </a:solidFill>
                <a:latin typeface="IBM Plex Sans" pitchFamily="34" charset="0"/>
                <a:ea typeface="IBM Plex Sans" pitchFamily="34" charset="-122"/>
                <a:cs typeface="IBM Plex Sans" pitchFamily="34" charset="-120"/>
              </a:rPr>
              <a:t>volatile forces a real register access every time</a:t>
            </a:r>
            <a:endParaRPr lang="en-US" sz="1200" dirty="0"/>
          </a:p>
          <a:p>
            <a:pPr algn="l" marL="155194" indent="-155194">
              <a:lnSpc>
                <a:spcPts val="1680"/>
              </a:lnSpc>
              <a:buSzPct val="100000"/>
              <a:buChar char="•"/>
            </a:pPr>
            <a:r>
              <a:rPr lang="en-US" sz="1200" dirty="0">
                <a:solidFill>
                  <a:srgbClr val="E6EDF7"/>
                </a:solidFill>
                <a:latin typeface="IBM Plex Sans" pitchFamily="34" charset="0"/>
                <a:ea typeface="IBM Plex Sans" pitchFamily="34" charset="-122"/>
                <a:cs typeface="IBM Plex Sans" pitchFamily="34" charset="-120"/>
              </a:rPr>
              <a:t>gpio_write() repeats the same pattern on PORTx</a:t>
            </a:r>
            <a:endParaRPr lang="en-US" sz="1200" dirty="0"/>
          </a:p>
        </p:txBody>
      </p:sp>
      <p:sp>
        <p:nvSpPr>
          <p:cNvPr id="13" name="Text 10"/>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A6"/>
                </a:solidFill>
                <a:latin typeface="IBM Plex Sans" pitchFamily="34" charset="0"/>
                <a:ea typeface="IBM Plex Sans" pitchFamily="34" charset="-122"/>
                <a:cs typeface="IBM Plex Sans" pitchFamily="34" charset="-120"/>
              </a:rPr>
              <a:t>Smart Parking Assist · ATmega2560 bare-metal drivers · 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508000"/>
            <a:ext cx="5696449"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2D3EE"/>
                </a:solidFill>
                <a:latin typeface="JetBrains Mono" pitchFamily="49" charset="0"/>
                <a:ea typeface="JetBrains Mono" pitchFamily="49" charset="-122"/>
                <a:cs typeface="JetBrains Mono" pitchFamily="49" charset="-120"/>
              </a:rPr>
              <a:t>04 · TIMER.C / TIMER.H</a:t>
            </a:r>
            <a:endParaRPr lang="en-US" sz="1200" dirty="0"/>
          </a:p>
        </p:txBody>
      </p:sp>
      <p:sp>
        <p:nvSpPr>
          <p:cNvPr id="3" name="Text 1"/>
          <p:cNvSpPr/>
          <p:nvPr>
            <p:ph type="title"/>
          </p:nvPr>
        </p:nvSpPr>
        <p:spPr>
          <a:xfrm>
            <a:off x="812800" y="772161"/>
            <a:ext cx="6636639"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6EDF7"/>
                </a:solidFill>
                <a:latin typeface="IBM Plex Sans" pitchFamily="34" charset="0"/>
                <a:ea typeface="IBM Plex Sans" pitchFamily="34" charset="-122"/>
                <a:cs typeface="IBM Plex Sans" pitchFamily="34" charset="-120"/>
              </a:rPr>
              <a:t>Timer Driver: CTC and a 1 ms Tick</a:t>
            </a:r>
            <a:endParaRPr lang="en-US" sz="2800" dirty="0"/>
          </a:p>
        </p:txBody>
      </p:sp>
      <p:sp>
        <p:nvSpPr>
          <p:cNvPr id="4" name="Text 2"/>
          <p:cNvSpPr/>
          <p:nvPr/>
        </p:nvSpPr>
        <p:spPr>
          <a:xfrm>
            <a:off x="8557895" y="841375"/>
            <a:ext cx="2818130" cy="318770"/>
          </a:xfrm>
          <a:prstGeom prst="roundRect">
            <a:avLst>
              <a:gd name="adj" fmla="val 50000"/>
            </a:avLst>
          </a:prstGeom>
          <a:noFill/>
          <a:ln w="6350">
            <a:solidFill>
              <a:srgbClr val="FBBF24"/>
            </a:solidFill>
            <a:prstDash val="solid"/>
          </a:ln>
        </p:spPr>
        <p:txBody>
          <a:bodyPr wrap="none" lIns="0" tIns="0" rIns="0" bIns="0" rtlCol="0" anchor="ctr">
            <a:normAutofit/>
          </a:bodyPr>
          <a:lstStyle/>
          <a:p>
            <a:pPr algn="ctr" indent="0" marL="0">
              <a:lnSpc>
                <a:spcPts val="1680"/>
              </a:lnSpc>
              <a:buNone/>
            </a:pPr>
            <a:r>
              <a:rPr lang="en-US" sz="1200" dirty="0">
                <a:solidFill>
                  <a:srgbClr val="FBBF24"/>
                </a:solidFill>
                <a:latin typeface="JetBrains Mono" pitchFamily="49" charset="0"/>
                <a:ea typeface="JetBrains Mono" pitchFamily="49" charset="-122"/>
                <a:cs typeface="JetBrains Mono" pitchFamily="49" charset="-120"/>
              </a:rPr>
              <a:t>EXAMPLE · confirm vs timer.c</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351280"/>
          <a:ext cx="5069840" cy="1981200"/>
        </p:xfrm>
        <a:graphic>
          <a:graphicData uri="http://schemas.openxmlformats.org/drawingml/2006/table">
            <a:tbl>
              <a:tblPr/>
              <a:tblGrid>
                <a:gridCol w="1115365"/>
                <a:gridCol w="3954475"/>
              </a:tblGrid>
              <a:tr h="330200">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Register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Purpose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E535C"/>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TCCR1B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WGM12 = CTC mode · CS11, CS10 = ÷64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OCR1A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Compare value (249)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TCNT1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16-bit counter, clears at match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TIFR1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OCF1A flag set at compare match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TIMSK1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OCIE1A = interrupt enable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bl>
          </a:graphicData>
        </a:graphic>
      </p:graphicFrame>
      <p:sp>
        <p:nvSpPr>
          <p:cNvPr id="6" name="Text 3"/>
          <p:cNvSpPr/>
          <p:nvPr/>
        </p:nvSpPr>
        <p:spPr>
          <a:xfrm>
            <a:off x="812800" y="3484880"/>
            <a:ext cx="5080000" cy="1188720"/>
          </a:xfrm>
          <a:prstGeom prst="roundRect">
            <a:avLst>
              <a:gd name="adj" fmla="val 6410"/>
            </a:avLst>
          </a:prstGeom>
          <a:solidFill>
            <a:srgbClr val="0E1626"/>
          </a:solidFill>
          <a:ln/>
        </p:spPr>
        <p:txBody>
          <a:bodyPr wrap="square" lIns="216442" tIns="130082" rIns="41740" bIns="104682" rtlCol="0" anchor="t">
            <a:normAutofit/>
          </a:bodyPr>
          <a:lstStyle/>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TCCR1A = 0;</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TCCR1B = (1&lt;&lt;WGM12) | (1&lt;&lt;CS11) | (1&lt;&lt;CS10);</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OCR1A  = 249;</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TIMSK1 = (1&lt;&lt;OCIE1A);</a:t>
            </a:r>
            <a:endParaRPr lang="en-US" sz="1200" dirty="0"/>
          </a:p>
        </p:txBody>
      </p:sp>
      <p:sp>
        <p:nvSpPr>
          <p:cNvPr id="7" name="Shape 4"/>
          <p:cNvSpPr/>
          <p:nvPr/>
        </p:nvSpPr>
        <p:spPr>
          <a:xfrm>
            <a:off x="812800" y="3484880"/>
            <a:ext cx="5080000" cy="1188720"/>
          </a:xfrm>
          <a:custGeom>
            <a:avLst/>
            <a:gdLst/>
            <a:ahLst/>
            <a:cxnLst/>
            <a:rect l="l" t="t" r="r" b="b"/>
            <a:pathLst>
              <a:path w="5080000" h="1188720">
                <a:moveTo>
                  <a:pt x="76200" y="1188720"/>
                </a:moveTo>
                <a:lnTo>
                  <a:pt x="76200" y="1188720"/>
                </a:lnTo>
                <a:arcTo hR="76200" wR="76200" stAng="5400000" swAng="5400000"/>
                <a:lnTo>
                  <a:pt x="0" y="76200"/>
                </a:lnTo>
                <a:arcTo hR="76200" wR="76200" stAng="10800000" swAng="5400000"/>
                <a:lnTo>
                  <a:pt x="76200" y="0"/>
                </a:lnTo>
                <a:arcTo hR="76200" wR="38100" stAng="16200000" swAng="-5400000"/>
                <a:lnTo>
                  <a:pt x="38100" y="1112520"/>
                </a:lnTo>
                <a:arcTo hR="76200" wR="38100" stAng="10800000" swAng="-5400000"/>
                <a:close/>
              </a:path>
            </a:pathLst>
          </a:custGeom>
          <a:solidFill>
            <a:srgbClr val="22D3EE"/>
          </a:solidFill>
          <a:ln/>
        </p:spPr>
      </p:sp>
      <p:sp>
        <p:nvSpPr>
          <p:cNvPr id="8" name="Shape 5"/>
          <p:cNvSpPr/>
          <p:nvPr/>
        </p:nvSpPr>
        <p:spPr>
          <a:xfrm>
            <a:off x="6051550" y="1347470"/>
            <a:ext cx="5321300" cy="1548130"/>
          </a:xfrm>
          <a:prstGeom prst="roundRect">
            <a:avLst>
              <a:gd name="adj" fmla="val 6153"/>
            </a:avLst>
          </a:prstGeom>
          <a:solidFill>
            <a:srgbClr val="131C2E"/>
          </a:solidFill>
          <a:ln w="12700">
            <a:solidFill>
              <a:srgbClr val="4ADE80"/>
            </a:solidFill>
            <a:prstDash val="solid"/>
          </a:ln>
        </p:spPr>
      </p:sp>
      <p:sp>
        <p:nvSpPr>
          <p:cNvPr id="9" name="Text 6"/>
          <p:cNvSpPr/>
          <p:nvPr/>
        </p:nvSpPr>
        <p:spPr>
          <a:xfrm>
            <a:off x="6233160" y="1529080"/>
            <a:ext cx="51068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8"/>
                </a:solidFill>
                <a:latin typeface="JetBrains Mono" pitchFamily="49" charset="0"/>
                <a:ea typeface="JetBrains Mono" pitchFamily="49" charset="-122"/>
                <a:cs typeface="JetBrains Mono" pitchFamily="49" charset="-120"/>
              </a:rPr>
              <a:t>If CPU = 16 MHz, prescaler = 64, OCR1A = 249</a:t>
            </a:r>
            <a:endParaRPr lang="en-US" sz="1200" dirty="0"/>
          </a:p>
        </p:txBody>
      </p:sp>
      <p:sp>
        <p:nvSpPr>
          <p:cNvPr id="10" name="Text 7"/>
          <p:cNvSpPr/>
          <p:nvPr/>
        </p:nvSpPr>
        <p:spPr>
          <a:xfrm>
            <a:off x="6233160" y="1780541"/>
            <a:ext cx="5106822"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6EDF7"/>
                </a:solidFill>
                <a:latin typeface="JetBrains Mono" pitchFamily="49" charset="0"/>
                <a:ea typeface="JetBrains Mono" pitchFamily="49" charset="-122"/>
                <a:cs typeface="JetBrains Mono" pitchFamily="49" charset="-120"/>
              </a:rPr>
              <a:t>f_timer = 16 MHz / 64 = </a:t>
            </a:r>
            <a:r>
              <a:rPr lang="en-US" sz="1500" dirty="0">
                <a:solidFill>
                  <a:srgbClr val="4ADE80"/>
                </a:solidFill>
                <a:latin typeface="JetBrains Mono" pitchFamily="49" charset="0"/>
                <a:ea typeface="JetBrains Mono" pitchFamily="49" charset="-122"/>
                <a:cs typeface="JetBrains Mono" pitchFamily="49" charset="-120"/>
              </a:rPr>
              <a:t>250 kHz</a:t>
            </a:r>
            <a:endParaRPr lang="en-US" sz="1500" dirty="0"/>
          </a:p>
        </p:txBody>
      </p:sp>
      <p:sp>
        <p:nvSpPr>
          <p:cNvPr id="11" name="Text 8"/>
          <p:cNvSpPr/>
          <p:nvPr/>
        </p:nvSpPr>
        <p:spPr>
          <a:xfrm>
            <a:off x="6233160" y="2104391"/>
            <a:ext cx="5106822"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6EDF7"/>
                </a:solidFill>
                <a:latin typeface="JetBrains Mono" pitchFamily="49" charset="0"/>
                <a:ea typeface="JetBrains Mono" pitchFamily="49" charset="-122"/>
                <a:cs typeface="JetBrains Mono" pitchFamily="49" charset="-120"/>
              </a:rPr>
              <a:t>1 tick = 1 / 250 kHz = </a:t>
            </a:r>
            <a:r>
              <a:rPr lang="en-US" sz="1500" dirty="0">
                <a:solidFill>
                  <a:srgbClr val="4ADE80"/>
                </a:solidFill>
                <a:latin typeface="JetBrains Mono" pitchFamily="49" charset="0"/>
                <a:ea typeface="JetBrains Mono" pitchFamily="49" charset="-122"/>
                <a:cs typeface="JetBrains Mono" pitchFamily="49" charset="-120"/>
              </a:rPr>
              <a:t>4 µs</a:t>
            </a:r>
            <a:endParaRPr lang="en-US" sz="1500" dirty="0"/>
          </a:p>
        </p:txBody>
      </p:sp>
      <p:sp>
        <p:nvSpPr>
          <p:cNvPr id="12" name="Text 9"/>
          <p:cNvSpPr/>
          <p:nvPr/>
        </p:nvSpPr>
        <p:spPr>
          <a:xfrm>
            <a:off x="6233160" y="2428241"/>
            <a:ext cx="5106822"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6EDF7"/>
                </a:solidFill>
                <a:latin typeface="JetBrains Mono" pitchFamily="49" charset="0"/>
                <a:ea typeface="JetBrains Mono" pitchFamily="49" charset="-122"/>
                <a:cs typeface="JetBrains Mono" pitchFamily="49" charset="-120"/>
              </a:rPr>
              <a:t>T = (249 + 1) / 250,000 = </a:t>
            </a:r>
            <a:r>
              <a:rPr lang="en-US" sz="1500" dirty="0">
                <a:solidFill>
                  <a:srgbClr val="4ADE80"/>
                </a:solidFill>
                <a:latin typeface="JetBrains Mono" pitchFamily="49" charset="0"/>
                <a:ea typeface="JetBrains Mono" pitchFamily="49" charset="-122"/>
                <a:cs typeface="JetBrains Mono" pitchFamily="49" charset="-120"/>
              </a:rPr>
              <a:t>1 ms</a:t>
            </a:r>
            <a:endParaRPr lang="en-US" sz="1500" dirty="0"/>
          </a:p>
        </p:txBody>
      </p:sp>
      <p:sp>
        <p:nvSpPr>
          <p:cNvPr id="13" name="Shape 10"/>
          <p:cNvSpPr/>
          <p:nvPr/>
        </p:nvSpPr>
        <p:spPr>
          <a:xfrm>
            <a:off x="6048375" y="3057525"/>
            <a:ext cx="2584450" cy="999490"/>
          </a:xfrm>
          <a:prstGeom prst="roundRect">
            <a:avLst>
              <a:gd name="adj" fmla="val 9848"/>
            </a:avLst>
          </a:prstGeom>
          <a:solidFill>
            <a:srgbClr val="131C2E"/>
          </a:solidFill>
          <a:ln w="6350">
            <a:solidFill>
              <a:srgbClr val="24324A"/>
            </a:solidFill>
            <a:prstDash val="solid"/>
          </a:ln>
        </p:spPr>
      </p:sp>
      <p:sp>
        <p:nvSpPr>
          <p:cNvPr id="14" name="Text 11"/>
          <p:cNvSpPr/>
          <p:nvPr/>
        </p:nvSpPr>
        <p:spPr>
          <a:xfrm>
            <a:off x="6202680" y="3211830"/>
            <a:ext cx="234411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2D3EE"/>
                </a:solidFill>
                <a:latin typeface="IBM Plex Sans" pitchFamily="34" charset="0"/>
                <a:ea typeface="IBM Plex Sans" pitchFamily="34" charset="-122"/>
                <a:cs typeface="IBM Plex Sans" pitchFamily="34" charset="-120"/>
              </a:rPr>
              <a:t>Hardware timer</a:t>
            </a:r>
            <a:endParaRPr lang="en-US" sz="1400" dirty="0"/>
          </a:p>
        </p:txBody>
      </p:sp>
      <p:sp>
        <p:nvSpPr>
          <p:cNvPr id="15" name="Text 12"/>
          <p:cNvSpPr/>
          <p:nvPr/>
        </p:nvSpPr>
        <p:spPr>
          <a:xfrm>
            <a:off x="6202680" y="3475991"/>
            <a:ext cx="234411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Counts in silicon. The CPU stays free for other work.</a:t>
            </a:r>
            <a:endParaRPr lang="en-US" sz="1200" dirty="0"/>
          </a:p>
        </p:txBody>
      </p:sp>
      <p:sp>
        <p:nvSpPr>
          <p:cNvPr id="16" name="Shape 13"/>
          <p:cNvSpPr/>
          <p:nvPr/>
        </p:nvSpPr>
        <p:spPr>
          <a:xfrm>
            <a:off x="8791575" y="3057525"/>
            <a:ext cx="2584450" cy="999490"/>
          </a:xfrm>
          <a:prstGeom prst="roundRect">
            <a:avLst>
              <a:gd name="adj" fmla="val 9848"/>
            </a:avLst>
          </a:prstGeom>
          <a:solidFill>
            <a:srgbClr val="131C2E"/>
          </a:solidFill>
          <a:ln w="6350">
            <a:solidFill>
              <a:srgbClr val="24324A"/>
            </a:solidFill>
            <a:prstDash val="solid"/>
          </a:ln>
        </p:spPr>
      </p:sp>
      <p:sp>
        <p:nvSpPr>
          <p:cNvPr id="17" name="Text 14"/>
          <p:cNvSpPr/>
          <p:nvPr/>
        </p:nvSpPr>
        <p:spPr>
          <a:xfrm>
            <a:off x="8945880" y="3211830"/>
            <a:ext cx="234411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BBF24"/>
                </a:solidFill>
                <a:latin typeface="IBM Plex Sans" pitchFamily="34" charset="0"/>
                <a:ea typeface="IBM Plex Sans" pitchFamily="34" charset="-122"/>
                <a:cs typeface="IBM Plex Sans" pitchFamily="34" charset="-120"/>
              </a:rPr>
              <a:t>Software delay</a:t>
            </a:r>
            <a:endParaRPr lang="en-US" sz="1400" dirty="0"/>
          </a:p>
        </p:txBody>
      </p:sp>
      <p:sp>
        <p:nvSpPr>
          <p:cNvPr id="18" name="Text 15"/>
          <p:cNvSpPr/>
          <p:nvPr/>
        </p:nvSpPr>
        <p:spPr>
          <a:xfrm>
            <a:off x="8945880" y="3475991"/>
            <a:ext cx="234411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_delay_ms() busy-waits and blocks everything else.</a:t>
            </a:r>
            <a:endParaRPr lang="en-US" sz="1200" dirty="0"/>
          </a:p>
        </p:txBody>
      </p:sp>
      <p:sp>
        <p:nvSpPr>
          <p:cNvPr id="19" name="Shape 16"/>
          <p:cNvSpPr/>
          <p:nvPr/>
        </p:nvSpPr>
        <p:spPr>
          <a:xfrm>
            <a:off x="6048375" y="4215766"/>
            <a:ext cx="5327650" cy="1050290"/>
          </a:xfrm>
          <a:prstGeom prst="roundRect">
            <a:avLst>
              <a:gd name="adj" fmla="val 9371"/>
            </a:avLst>
          </a:prstGeom>
          <a:solidFill>
            <a:srgbClr val="131C2E"/>
          </a:solidFill>
          <a:ln w="6350">
            <a:solidFill>
              <a:srgbClr val="24324A"/>
            </a:solidFill>
            <a:prstDash val="solid"/>
          </a:ln>
        </p:spPr>
      </p:sp>
      <p:sp>
        <p:nvSpPr>
          <p:cNvPr id="20" name="Text 17"/>
          <p:cNvSpPr/>
          <p:nvPr/>
        </p:nvSpPr>
        <p:spPr>
          <a:xfrm>
            <a:off x="6228080" y="4370070"/>
            <a:ext cx="51172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2D3EE"/>
                </a:solidFill>
                <a:latin typeface="IBM Plex Sans" pitchFamily="34" charset="0"/>
                <a:ea typeface="IBM Plex Sans" pitchFamily="34" charset="-122"/>
                <a:cs typeface="IBM Plex Sans" pitchFamily="34" charset="-120"/>
              </a:rPr>
              <a:t>Polling:</a:t>
            </a:r>
            <a:r>
              <a:rPr lang="en-US" sz="1200" dirty="0">
                <a:solidFill>
                  <a:srgbClr val="E6EDF7"/>
                </a:solidFill>
                <a:latin typeface="IBM Plex Sans" pitchFamily="34" charset="0"/>
                <a:ea typeface="IBM Plex Sans" pitchFamily="34" charset="-122"/>
                <a:cs typeface="IBM Plex Sans" pitchFamily="34" charset="-120"/>
              </a:rPr>
              <a:t> loop until OCF1A = 1, then clear it by writing 1.</a:t>
            </a:r>
            <a:endParaRPr lang="en-US" sz="1200" dirty="0"/>
          </a:p>
        </p:txBody>
      </p:sp>
      <p:sp>
        <p:nvSpPr>
          <p:cNvPr id="21" name="Text 18"/>
          <p:cNvSpPr/>
          <p:nvPr/>
        </p:nvSpPr>
        <p:spPr>
          <a:xfrm>
            <a:off x="6228080" y="4634230"/>
            <a:ext cx="51172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2D3EE"/>
                </a:solidFill>
                <a:latin typeface="IBM Plex Sans" pitchFamily="34" charset="0"/>
                <a:ea typeface="IBM Plex Sans" pitchFamily="34" charset="-122"/>
                <a:cs typeface="IBM Plex Sans" pitchFamily="34" charset="-120"/>
              </a:rPr>
              <a:t>Interrupt:</a:t>
            </a:r>
            <a:r>
              <a:rPr lang="en-US" sz="1200" dirty="0">
                <a:solidFill>
                  <a:srgbClr val="E6EDF7"/>
                </a:solidFill>
                <a:latin typeface="IBM Plex Sans" pitchFamily="34" charset="0"/>
                <a:ea typeface="IBM Plex Sans" pitchFamily="34" charset="-122"/>
                <a:cs typeface="IBM Plex Sans" pitchFamily="34" charset="-120"/>
              </a:rPr>
              <a:t> ISR(TIMER1_COMPA_vect) runs on every match.</a:t>
            </a:r>
            <a:endParaRPr lang="en-US" sz="1200" dirty="0"/>
          </a:p>
        </p:txBody>
      </p:sp>
      <p:sp>
        <p:nvSpPr>
          <p:cNvPr id="22" name="Text 19"/>
          <p:cNvSpPr/>
          <p:nvPr/>
        </p:nvSpPr>
        <p:spPr>
          <a:xfrm>
            <a:off x="6228080" y="4898391"/>
            <a:ext cx="51172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BBF24"/>
                </a:solidFill>
                <a:latin typeface="IBM Plex Sans" pitchFamily="34" charset="0"/>
                <a:ea typeface="IBM Plex Sans" pitchFamily="34" charset="-122"/>
                <a:cs typeface="IBM Plex Sans" pitchFamily="34" charset="-120"/>
              </a:rPr>
              <a:t>Mode used in our code: [confirm in timer.c]</a:t>
            </a:r>
            <a:endParaRPr lang="en-US" sz="1200" dirty="0"/>
          </a:p>
        </p:txBody>
      </p:sp>
      <p:sp>
        <p:nvSpPr>
          <p:cNvPr id="23" name="Text 20"/>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A6"/>
                </a:solidFill>
                <a:latin typeface="IBM Plex Sans" pitchFamily="34" charset="0"/>
                <a:ea typeface="IBM Plex Sans" pitchFamily="34" charset="-122"/>
                <a:cs typeface="IBM Plex Sans" pitchFamily="34" charset="-120"/>
              </a:rPr>
              <a:t>Smart Parking Assist · ATmega2560 bare-metal drivers · 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508000"/>
            <a:ext cx="456821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2D3EE"/>
                </a:solidFill>
                <a:latin typeface="JetBrains Mono" pitchFamily="49" charset="0"/>
                <a:ea typeface="JetBrains Mono" pitchFamily="49" charset="-122"/>
                <a:cs typeface="JetBrains Mono" pitchFamily="49" charset="-120"/>
              </a:rPr>
              <a:t>05 · PWM DRIVER</a:t>
            </a:r>
            <a:endParaRPr lang="en-US" sz="1200" dirty="0"/>
          </a:p>
        </p:txBody>
      </p:sp>
      <p:sp>
        <p:nvSpPr>
          <p:cNvPr id="3" name="Text 1"/>
          <p:cNvSpPr/>
          <p:nvPr>
            <p:ph type="title"/>
          </p:nvPr>
        </p:nvSpPr>
        <p:spPr>
          <a:xfrm>
            <a:off x="812800" y="772161"/>
            <a:ext cx="5322189"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6EDF7"/>
                </a:solidFill>
                <a:latin typeface="IBM Plex Sans" pitchFamily="34" charset="0"/>
                <a:ea typeface="IBM Plex Sans" pitchFamily="34" charset="-122"/>
                <a:cs typeface="IBM Plex Sans" pitchFamily="34" charset="-120"/>
              </a:rPr>
              <a:t>PWM: Fast PWM on Timer3</a:t>
            </a:r>
            <a:endParaRPr lang="en-US" sz="2800" dirty="0"/>
          </a:p>
        </p:txBody>
      </p:sp>
      <p:sp>
        <p:nvSpPr>
          <p:cNvPr id="4" name="Text 2"/>
          <p:cNvSpPr/>
          <p:nvPr/>
        </p:nvSpPr>
        <p:spPr>
          <a:xfrm>
            <a:off x="8375015" y="841375"/>
            <a:ext cx="3001010" cy="318770"/>
          </a:xfrm>
          <a:prstGeom prst="roundRect">
            <a:avLst>
              <a:gd name="adj" fmla="val 50000"/>
            </a:avLst>
          </a:prstGeom>
          <a:noFill/>
          <a:ln w="6350">
            <a:solidFill>
              <a:srgbClr val="FBBF24"/>
            </a:solidFill>
            <a:prstDash val="solid"/>
          </a:ln>
        </p:spPr>
        <p:txBody>
          <a:bodyPr wrap="none" lIns="0" tIns="0" rIns="0" bIns="0" rtlCol="0" anchor="ctr">
            <a:normAutofit/>
          </a:bodyPr>
          <a:lstStyle/>
          <a:p>
            <a:pPr algn="ctr" indent="0" marL="0">
              <a:lnSpc>
                <a:spcPts val="1680"/>
              </a:lnSpc>
              <a:buNone/>
            </a:pPr>
            <a:r>
              <a:rPr lang="en-US" sz="1200" dirty="0">
                <a:solidFill>
                  <a:srgbClr val="FBBF24"/>
                </a:solidFill>
                <a:latin typeface="JetBrains Mono" pitchFamily="49" charset="0"/>
                <a:ea typeface="JetBrains Mono" pitchFamily="49" charset="-122"/>
                <a:cs typeface="JetBrains Mono" pitchFamily="49" charset="-120"/>
              </a:rPr>
              <a:t>ILLUSTRATIVE · verify vs pwm.c</a:t>
            </a:r>
            <a:endParaRPr lang="en-US" sz="1200" dirty="0"/>
          </a:p>
        </p:txBody>
      </p:sp>
      <p:sp>
        <p:nvSpPr>
          <p:cNvPr id="5" name="Shape 3"/>
          <p:cNvSpPr/>
          <p:nvPr/>
        </p:nvSpPr>
        <p:spPr>
          <a:xfrm>
            <a:off x="819150" y="1347471"/>
            <a:ext cx="4813300" cy="1717040"/>
          </a:xfrm>
          <a:prstGeom prst="roundRect">
            <a:avLst>
              <a:gd name="adj" fmla="val 5547"/>
            </a:avLst>
          </a:prstGeom>
          <a:solidFill>
            <a:srgbClr val="131C2E"/>
          </a:solidFill>
          <a:ln w="12700">
            <a:solidFill>
              <a:srgbClr val="4ADE80"/>
            </a:solidFill>
            <a:prstDash val="solid"/>
          </a:ln>
        </p:spPr>
      </p:sp>
      <p:sp>
        <p:nvSpPr>
          <p:cNvPr id="6" name="Text 4"/>
          <p:cNvSpPr/>
          <p:nvPr/>
        </p:nvSpPr>
        <p:spPr>
          <a:xfrm>
            <a:off x="1000760" y="1529082"/>
            <a:ext cx="4583582"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6EDF7"/>
                </a:solidFill>
                <a:latin typeface="JetBrains Mono" pitchFamily="49" charset="0"/>
                <a:ea typeface="JetBrains Mono" pitchFamily="49" charset="-122"/>
                <a:cs typeface="JetBrains Mono" pitchFamily="49" charset="-120"/>
              </a:rPr>
              <a:t>f_PWM = f_clk / (N × 256)</a:t>
            </a:r>
            <a:endParaRPr lang="en-US" sz="1400" dirty="0"/>
          </a:p>
        </p:txBody>
      </p:sp>
      <p:sp>
        <p:nvSpPr>
          <p:cNvPr id="7" name="Text 5"/>
          <p:cNvSpPr/>
          <p:nvPr/>
        </p:nvSpPr>
        <p:spPr>
          <a:xfrm>
            <a:off x="1000760" y="1812289"/>
            <a:ext cx="4583582"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6EDF7"/>
                </a:solidFill>
                <a:latin typeface="JetBrains Mono" pitchFamily="49" charset="0"/>
                <a:ea typeface="JetBrains Mono" pitchFamily="49" charset="-122"/>
                <a:cs typeface="JetBrains Mono" pitchFamily="49" charset="-120"/>
              </a:rPr>
              <a:t>= 16,000,000 / (64 × 256)</a:t>
            </a:r>
            <a:endParaRPr lang="en-US" sz="1400" dirty="0"/>
          </a:p>
        </p:txBody>
      </p:sp>
      <p:sp>
        <p:nvSpPr>
          <p:cNvPr id="8" name="Text 6"/>
          <p:cNvSpPr/>
          <p:nvPr/>
        </p:nvSpPr>
        <p:spPr>
          <a:xfrm>
            <a:off x="1000760" y="2095500"/>
            <a:ext cx="4583582"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DE80"/>
                </a:solidFill>
                <a:latin typeface="JetBrains Mono" pitchFamily="49" charset="0"/>
                <a:ea typeface="JetBrains Mono" pitchFamily="49" charset="-122"/>
                <a:cs typeface="JetBrains Mono" pitchFamily="49" charset="-120"/>
              </a:rPr>
              <a:t>≈ 976.56 Hz</a:t>
            </a:r>
            <a:endParaRPr lang="en-US" sz="1400" dirty="0"/>
          </a:p>
        </p:txBody>
      </p:sp>
      <p:sp>
        <p:nvSpPr>
          <p:cNvPr id="9" name="Text 7"/>
          <p:cNvSpPr/>
          <p:nvPr/>
        </p:nvSpPr>
        <p:spPr>
          <a:xfrm>
            <a:off x="1000760" y="2378711"/>
            <a:ext cx="4583582"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6EDF7"/>
                </a:solidFill>
                <a:latin typeface="JetBrains Mono" pitchFamily="49" charset="0"/>
                <a:ea typeface="JetBrains Mono" pitchFamily="49" charset="-122"/>
                <a:cs typeface="JetBrains Mono" pitchFamily="49" charset="-120"/>
              </a:rPr>
              <a:t>Duty ≈ 128 / 255 ≈ </a:t>
            </a:r>
            <a:r>
              <a:rPr lang="en-US" sz="1400" dirty="0">
                <a:solidFill>
                  <a:srgbClr val="4ADE80"/>
                </a:solidFill>
                <a:latin typeface="JetBrains Mono" pitchFamily="49" charset="0"/>
                <a:ea typeface="JetBrains Mono" pitchFamily="49" charset="-122"/>
                <a:cs typeface="JetBrains Mono" pitchFamily="49" charset="-120"/>
              </a:rPr>
              <a:t>50.2 %</a:t>
            </a:r>
            <a:endParaRPr lang="en-US" sz="1400" dirty="0"/>
          </a:p>
        </p:txBody>
      </p:sp>
      <p:sp>
        <p:nvSpPr>
          <p:cNvPr id="10" name="Text 8"/>
          <p:cNvSpPr/>
          <p:nvPr/>
        </p:nvSpPr>
        <p:spPr>
          <a:xfrm>
            <a:off x="1000760" y="2661921"/>
            <a:ext cx="4583582"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9FB0C8"/>
                </a:solidFill>
                <a:latin typeface="JetBrains Mono" pitchFamily="49" charset="0"/>
                <a:ea typeface="JetBrains Mono" pitchFamily="49" charset="-122"/>
                <a:cs typeface="JetBrains Mono" pitchFamily="49" charset="-120"/>
              </a:rPr>
              <a:t>exact: (128 + 1) / 256 = 50.4 %</a:t>
            </a:r>
            <a:endParaRPr lang="en-US" sz="1200" dirty="0"/>
          </a:p>
        </p:txBody>
      </p:sp>
      <p:sp>
        <p:nvSpPr>
          <p:cNvPr id="11" name="Shape 9"/>
          <p:cNvSpPr/>
          <p:nvPr/>
        </p:nvSpPr>
        <p:spPr>
          <a:xfrm>
            <a:off x="815975" y="3226436"/>
            <a:ext cx="4819650" cy="2132330"/>
          </a:xfrm>
          <a:prstGeom prst="roundRect">
            <a:avLst>
              <a:gd name="adj" fmla="val 4616"/>
            </a:avLst>
          </a:prstGeom>
          <a:solidFill>
            <a:srgbClr val="131C2E"/>
          </a:solidFill>
          <a:ln w="6350">
            <a:solidFill>
              <a:srgbClr val="24324A"/>
            </a:solidFill>
            <a:prstDash val="solid"/>
          </a:ln>
        </p:spPr>
      </p:sp>
      <p:pic>
        <p:nvPicPr>
          <p:cNvPr id="12" name="Image 0" descr="Sawtooth counter TCNT3 counting 0 to 255 with a dashed compare level, above the PWM output that is HIGH until the compare match">    </p:cNvPr>
          <p:cNvPicPr>
            <a:picLocks noChangeAspect="1"/>
          </p:cNvPicPr>
          <p:nvPr/>
        </p:nvPicPr>
        <p:blipFill>
          <a:blip r:embed="rId1"/>
          <a:srcRect l="0" r="0" t="0" b="0"/>
          <a:stretch/>
        </p:blipFill>
        <p:spPr>
          <a:xfrm>
            <a:off x="995680" y="3380739"/>
            <a:ext cx="4445000" cy="1333500"/>
          </a:xfrm>
          <a:prstGeom prst="rect">
            <a:avLst/>
          </a:prstGeom>
        </p:spPr>
      </p:pic>
      <p:sp>
        <p:nvSpPr>
          <p:cNvPr id="13" name="Text 10"/>
          <p:cNvSpPr/>
          <p:nvPr/>
        </p:nvSpPr>
        <p:spPr>
          <a:xfrm>
            <a:off x="995680" y="4777739"/>
            <a:ext cx="45940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8"/>
                </a:solidFill>
                <a:latin typeface="IBM Plex Sans" pitchFamily="34" charset="0"/>
                <a:ea typeface="IBM Plex Sans" pitchFamily="34" charset="-122"/>
                <a:cs typeface="IBM Plex Sans" pitchFamily="34" charset="-120"/>
              </a:rPr>
              <a:t>Grey: TCNT3 counts 0 to 255. Dashed: OCR3A. Cyan: OC3A output, HIGH until the match.</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801360" y="1351281"/>
          <a:ext cx="5577840" cy="1651000"/>
        </p:xfrm>
        <a:graphic>
          <a:graphicData uri="http://schemas.openxmlformats.org/drawingml/2006/table">
            <a:tbl>
              <a:tblPr/>
              <a:tblGrid>
                <a:gridCol w="1115568"/>
                <a:gridCol w="1840687"/>
                <a:gridCol w="2621585"/>
              </a:tblGrid>
              <a:tr h="330200">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Register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Bits 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E535C"/>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Role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E535C"/>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TCCR3A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COM3A1, WGM30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Non-inverting · mode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TCCR3B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WGM32, CS31, CS30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Fast PWM · ÷64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DDRE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PE3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OC3A pin = output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OCR3A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128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Duty (compare value)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bl>
          </a:graphicData>
        </a:graphic>
      </p:graphicFrame>
      <p:sp>
        <p:nvSpPr>
          <p:cNvPr id="15" name="Text 11"/>
          <p:cNvSpPr/>
          <p:nvPr/>
        </p:nvSpPr>
        <p:spPr>
          <a:xfrm>
            <a:off x="5791200" y="3154682"/>
            <a:ext cx="5588000" cy="1188720"/>
          </a:xfrm>
          <a:prstGeom prst="roundRect">
            <a:avLst>
              <a:gd name="adj" fmla="val 6410"/>
            </a:avLst>
          </a:prstGeom>
          <a:solidFill>
            <a:srgbClr val="0E1626"/>
          </a:solidFill>
          <a:ln/>
        </p:spPr>
        <p:txBody>
          <a:bodyPr wrap="square" lIns="216442" tIns="130082" rIns="26500" bIns="104682" rtlCol="0" anchor="t">
            <a:normAutofit/>
          </a:bodyPr>
          <a:lstStyle/>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TCCR3A = (1&lt;&lt;COM3A1) | (1&lt;&lt;WGM30);</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TCCR3B = (1&lt;&lt;WGM32) | (1&lt;&lt;CS31) | (1&lt;&lt;CS30);</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DDRE |= (1&lt;&lt;PE3);  </a:t>
            </a:r>
            <a:r>
              <a:rPr lang="en-US" sz="1200" dirty="0">
                <a:solidFill>
                  <a:srgbClr val="7C8DA6"/>
                </a:solidFill>
                <a:latin typeface="JetBrains Mono" pitchFamily="49" charset="0"/>
                <a:ea typeface="JetBrains Mono" pitchFamily="49" charset="-122"/>
                <a:cs typeface="JetBrains Mono" pitchFamily="49" charset="-120"/>
              </a:rPr>
              <a:t>// OC3A = D5</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OCR3A = 128;      </a:t>
            </a:r>
            <a:r>
              <a:rPr lang="en-US" sz="1200" dirty="0">
                <a:solidFill>
                  <a:srgbClr val="7C8DA6"/>
                </a:solidFill>
                <a:latin typeface="JetBrains Mono" pitchFamily="49" charset="0"/>
                <a:ea typeface="JetBrains Mono" pitchFamily="49" charset="-122"/>
                <a:cs typeface="JetBrains Mono" pitchFamily="49" charset="-120"/>
              </a:rPr>
              <a:t>// ~50 % duty</a:t>
            </a:r>
            <a:endParaRPr lang="en-US" sz="1200" dirty="0"/>
          </a:p>
        </p:txBody>
      </p:sp>
      <p:sp>
        <p:nvSpPr>
          <p:cNvPr id="16" name="Shape 12"/>
          <p:cNvSpPr/>
          <p:nvPr/>
        </p:nvSpPr>
        <p:spPr>
          <a:xfrm>
            <a:off x="5791200" y="3154682"/>
            <a:ext cx="5588000" cy="1188720"/>
          </a:xfrm>
          <a:custGeom>
            <a:avLst/>
            <a:gdLst/>
            <a:ahLst/>
            <a:cxnLst/>
            <a:rect l="l" t="t" r="r" b="b"/>
            <a:pathLst>
              <a:path w="5588000" h="1188720">
                <a:moveTo>
                  <a:pt x="76200" y="1188720"/>
                </a:moveTo>
                <a:lnTo>
                  <a:pt x="76200" y="1188720"/>
                </a:lnTo>
                <a:arcTo hR="76200" wR="76200" stAng="5400000" swAng="5400000"/>
                <a:lnTo>
                  <a:pt x="0" y="76200"/>
                </a:lnTo>
                <a:arcTo hR="76200" wR="76200" stAng="10800000" swAng="5400000"/>
                <a:lnTo>
                  <a:pt x="76200" y="0"/>
                </a:lnTo>
                <a:arcTo hR="76200" wR="38100" stAng="16200000" swAng="-5400000"/>
                <a:lnTo>
                  <a:pt x="38100" y="1112520"/>
                </a:lnTo>
                <a:arcTo hR="76200" wR="38100" stAng="10800000" swAng="-5400000"/>
                <a:close/>
              </a:path>
            </a:pathLst>
          </a:custGeom>
          <a:solidFill>
            <a:srgbClr val="22D3EE"/>
          </a:solidFill>
          <a:ln/>
        </p:spPr>
      </p:sp>
      <p:sp>
        <p:nvSpPr>
          <p:cNvPr id="17" name="Shape 13"/>
          <p:cNvSpPr/>
          <p:nvPr/>
        </p:nvSpPr>
        <p:spPr>
          <a:xfrm>
            <a:off x="5794375" y="4498975"/>
            <a:ext cx="5581650" cy="722630"/>
          </a:xfrm>
          <a:prstGeom prst="roundRect">
            <a:avLst>
              <a:gd name="adj" fmla="val 13620"/>
            </a:avLst>
          </a:prstGeom>
          <a:solidFill>
            <a:srgbClr val="131C2E"/>
          </a:solidFill>
          <a:ln w="6350">
            <a:solidFill>
              <a:srgbClr val="24324A"/>
            </a:solidFill>
            <a:prstDash val="solid"/>
          </a:ln>
        </p:spPr>
      </p:sp>
      <p:sp>
        <p:nvSpPr>
          <p:cNvPr id="18" name="Text 14"/>
          <p:cNvSpPr/>
          <p:nvPr/>
        </p:nvSpPr>
        <p:spPr>
          <a:xfrm>
            <a:off x="5974080" y="4627882"/>
            <a:ext cx="53789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2D3EE"/>
                </a:solidFill>
                <a:latin typeface="IBM Plex Sans" pitchFamily="34" charset="0"/>
                <a:ea typeface="IBM Plex Sans" pitchFamily="34" charset="-122"/>
                <a:cs typeface="IBM Plex Sans" pitchFamily="34" charset="-120"/>
              </a:rPr>
              <a:t>Fast PWM:</a:t>
            </a:r>
            <a:r>
              <a:rPr lang="en-US" sz="1200" dirty="0">
                <a:solidFill>
                  <a:srgbClr val="E6EDF7"/>
                </a:solidFill>
                <a:latin typeface="IBM Plex Sans" pitchFamily="34" charset="0"/>
                <a:ea typeface="IBM Plex Sans" pitchFamily="34" charset="-122"/>
                <a:cs typeface="IBM Plex Sans" pitchFamily="34" charset="-120"/>
              </a:rPr>
              <a:t> one slope, f = f_clk / (N × 256) ≈ 976.56 Hz.</a:t>
            </a:r>
            <a:endParaRPr lang="en-US" sz="1200" dirty="0"/>
          </a:p>
        </p:txBody>
      </p:sp>
      <p:sp>
        <p:nvSpPr>
          <p:cNvPr id="19" name="Text 15"/>
          <p:cNvSpPr/>
          <p:nvPr/>
        </p:nvSpPr>
        <p:spPr>
          <a:xfrm>
            <a:off x="5974080" y="4879339"/>
            <a:ext cx="53789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2D3EE"/>
                </a:solidFill>
                <a:latin typeface="IBM Plex Sans" pitchFamily="34" charset="0"/>
                <a:ea typeface="IBM Plex Sans" pitchFamily="34" charset="-122"/>
                <a:cs typeface="IBM Plex Sans" pitchFamily="34" charset="-120"/>
              </a:rPr>
              <a:t>Phase Correct:</a:t>
            </a:r>
            <a:r>
              <a:rPr lang="en-US" sz="1200" dirty="0">
                <a:solidFill>
                  <a:srgbClr val="E6EDF7"/>
                </a:solidFill>
                <a:latin typeface="IBM Plex Sans" pitchFamily="34" charset="0"/>
                <a:ea typeface="IBM Plex Sans" pitchFamily="34" charset="-122"/>
                <a:cs typeface="IBM Plex Sans" pitchFamily="34" charset="-120"/>
              </a:rPr>
              <a:t> two slopes, f = f_clk / (N × 510) ≈ 490.2 Hz.</a:t>
            </a:r>
            <a:endParaRPr lang="en-US" sz="1200" dirty="0"/>
          </a:p>
        </p:txBody>
      </p:sp>
      <p:sp>
        <p:nvSpPr>
          <p:cNvPr id="20" name="Text 16"/>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A6"/>
                </a:solidFill>
                <a:latin typeface="IBM Plex Sans" pitchFamily="34" charset="0"/>
                <a:ea typeface="IBM Plex Sans" pitchFamily="34" charset="-122"/>
                <a:cs typeface="IBM Plex Sans" pitchFamily="34" charset="-120"/>
              </a:rPr>
              <a:t>Smart Parking Assist · ATmega2560 bare-metal drivers · 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508000"/>
            <a:ext cx="680678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2D3EE"/>
                </a:solidFill>
                <a:latin typeface="JetBrains Mono" pitchFamily="49" charset="0"/>
                <a:ea typeface="JetBrains Mono" pitchFamily="49" charset="-122"/>
                <a:cs typeface="JetBrains Mono" pitchFamily="49" charset="-120"/>
              </a:rPr>
              <a:t>06 · ULTRA.C / ULTRA.H</a:t>
            </a:r>
            <a:endParaRPr lang="en-US" sz="1200" dirty="0"/>
          </a:p>
        </p:txBody>
      </p:sp>
      <p:sp>
        <p:nvSpPr>
          <p:cNvPr id="3" name="Text 1"/>
          <p:cNvSpPr/>
          <p:nvPr>
            <p:ph type="title"/>
          </p:nvPr>
        </p:nvSpPr>
        <p:spPr>
          <a:xfrm>
            <a:off x="812800" y="772161"/>
            <a:ext cx="737616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6EDF7"/>
                </a:solidFill>
                <a:latin typeface="IBM Plex Sans" pitchFamily="34" charset="0"/>
                <a:ea typeface="IBM Plex Sans" pitchFamily="34" charset="-122"/>
                <a:cs typeface="IBM Plex Sans" pitchFamily="34" charset="-120"/>
              </a:rPr>
              <a:t>Ultrasonic Driver: Echo Time to Distance</a:t>
            </a:r>
            <a:endParaRPr lang="en-US" sz="2800" dirty="0"/>
          </a:p>
        </p:txBody>
      </p:sp>
      <p:sp>
        <p:nvSpPr>
          <p:cNvPr id="4" name="Text 2"/>
          <p:cNvSpPr/>
          <p:nvPr/>
        </p:nvSpPr>
        <p:spPr>
          <a:xfrm>
            <a:off x="8192135" y="841375"/>
            <a:ext cx="3183890" cy="318770"/>
          </a:xfrm>
          <a:prstGeom prst="roundRect">
            <a:avLst>
              <a:gd name="adj" fmla="val 50000"/>
            </a:avLst>
          </a:prstGeom>
          <a:noFill/>
          <a:ln w="6350">
            <a:solidFill>
              <a:srgbClr val="FBBF24"/>
            </a:solidFill>
            <a:prstDash val="solid"/>
          </a:ln>
        </p:spPr>
        <p:txBody>
          <a:bodyPr wrap="none" lIns="0" tIns="0" rIns="0" bIns="0" rtlCol="0" anchor="ctr">
            <a:normAutofit/>
          </a:bodyPr>
          <a:lstStyle/>
          <a:p>
            <a:pPr algn="ctr" indent="0" marL="0">
              <a:lnSpc>
                <a:spcPts val="1680"/>
              </a:lnSpc>
              <a:buNone/>
            </a:pPr>
            <a:r>
              <a:rPr lang="en-US" sz="1200" dirty="0">
                <a:solidFill>
                  <a:srgbClr val="FBBF24"/>
                </a:solidFill>
                <a:latin typeface="JetBrains Mono" pitchFamily="49" charset="0"/>
                <a:ea typeface="JetBrains Mono" pitchFamily="49" charset="-122"/>
                <a:cs typeface="JetBrains Mono" pitchFamily="49" charset="-120"/>
              </a:rPr>
              <a:t>ILLUSTRATIVE · verify vs ultra.c</a:t>
            </a:r>
            <a:endParaRPr lang="en-US" sz="1200" dirty="0"/>
          </a:p>
        </p:txBody>
      </p:sp>
      <p:sp>
        <p:nvSpPr>
          <p:cNvPr id="5" name="Shape 3"/>
          <p:cNvSpPr/>
          <p:nvPr/>
        </p:nvSpPr>
        <p:spPr>
          <a:xfrm>
            <a:off x="815975" y="1344296"/>
            <a:ext cx="4819650" cy="1781810"/>
          </a:xfrm>
          <a:prstGeom prst="roundRect">
            <a:avLst>
              <a:gd name="adj" fmla="val 5524"/>
            </a:avLst>
          </a:prstGeom>
          <a:solidFill>
            <a:srgbClr val="131C2E"/>
          </a:solidFill>
          <a:ln w="6350">
            <a:solidFill>
              <a:srgbClr val="24324A"/>
            </a:solidFill>
            <a:prstDash val="solid"/>
          </a:ln>
        </p:spPr>
      </p:sp>
      <p:sp>
        <p:nvSpPr>
          <p:cNvPr id="6" name="Text 4"/>
          <p:cNvSpPr/>
          <p:nvPr/>
        </p:nvSpPr>
        <p:spPr>
          <a:xfrm>
            <a:off x="995680" y="1524000"/>
            <a:ext cx="18967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D3EE"/>
                </a:solidFill>
                <a:latin typeface="JetBrains Mono" pitchFamily="49" charset="0"/>
                <a:ea typeface="JetBrains Mono" pitchFamily="49" charset="-122"/>
                <a:cs typeface="JetBrains Mono" pitchFamily="49" charset="-120"/>
              </a:rPr>
              <a:t>ATmega2560</a:t>
            </a:r>
            <a:endParaRPr lang="en-US" sz="1200" dirty="0"/>
          </a:p>
        </p:txBody>
      </p:sp>
      <p:sp>
        <p:nvSpPr>
          <p:cNvPr id="7" name="Text 5"/>
          <p:cNvSpPr/>
          <p:nvPr/>
        </p:nvSpPr>
        <p:spPr>
          <a:xfrm>
            <a:off x="3522980" y="1524000"/>
            <a:ext cx="18967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DE80"/>
                </a:solidFill>
                <a:latin typeface="JetBrains Mono" pitchFamily="49" charset="0"/>
                <a:ea typeface="JetBrains Mono" pitchFamily="49" charset="-122"/>
                <a:cs typeface="JetBrains Mono" pitchFamily="49" charset="-120"/>
              </a:rPr>
              <a:t>HC-SR04</a:t>
            </a:r>
            <a:endParaRPr lang="en-US" sz="1200" dirty="0"/>
          </a:p>
        </p:txBody>
      </p:sp>
      <p:sp>
        <p:nvSpPr>
          <p:cNvPr id="8" name="Text 6"/>
          <p:cNvSpPr/>
          <p:nvPr/>
        </p:nvSpPr>
        <p:spPr>
          <a:xfrm>
            <a:off x="995680" y="1826261"/>
            <a:ext cx="18967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5 V</a:t>
            </a:r>
            <a:endParaRPr lang="en-US" sz="1200" dirty="0"/>
          </a:p>
        </p:txBody>
      </p:sp>
      <p:pic>
        <p:nvPicPr>
          <p:cNvPr id="9" name="Image 0" descr="arrow-right">    </p:cNvPr>
          <p:cNvPicPr>
            <a:picLocks noChangeAspect="1"/>
          </p:cNvPicPr>
          <p:nvPr/>
        </p:nvPicPr>
        <p:blipFill>
          <a:blip r:embed="rId1"/>
          <a:srcRect l="0" r="0" t="0" b="0"/>
          <a:stretch/>
        </p:blipFill>
        <p:spPr>
          <a:xfrm>
            <a:off x="2926080" y="1844039"/>
            <a:ext cx="355600" cy="177800"/>
          </a:xfrm>
          <a:prstGeom prst="rect">
            <a:avLst/>
          </a:prstGeom>
        </p:spPr>
      </p:pic>
      <p:sp>
        <p:nvSpPr>
          <p:cNvPr id="10" name="Text 7"/>
          <p:cNvSpPr/>
          <p:nvPr/>
        </p:nvSpPr>
        <p:spPr>
          <a:xfrm>
            <a:off x="3522980" y="1826261"/>
            <a:ext cx="18967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VCC</a:t>
            </a:r>
            <a:endParaRPr lang="en-US" sz="1200" dirty="0"/>
          </a:p>
        </p:txBody>
      </p:sp>
      <p:sp>
        <p:nvSpPr>
          <p:cNvPr id="11" name="Text 8"/>
          <p:cNvSpPr/>
          <p:nvPr/>
        </p:nvSpPr>
        <p:spPr>
          <a:xfrm>
            <a:off x="995680" y="2128521"/>
            <a:ext cx="18967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[TRIG pin] out</a:t>
            </a:r>
            <a:endParaRPr lang="en-US" sz="1200" dirty="0"/>
          </a:p>
        </p:txBody>
      </p:sp>
      <p:pic>
        <p:nvPicPr>
          <p:cNvPr id="12" name="Image 1" descr="arrow-right">    </p:cNvPr>
          <p:cNvPicPr>
            <a:picLocks noChangeAspect="1"/>
          </p:cNvPicPr>
          <p:nvPr/>
        </p:nvPicPr>
        <p:blipFill>
          <a:blip r:embed="rId2"/>
          <a:srcRect l="0" r="0" t="0" b="0"/>
          <a:stretch/>
        </p:blipFill>
        <p:spPr>
          <a:xfrm>
            <a:off x="2926080" y="2146300"/>
            <a:ext cx="355600" cy="177800"/>
          </a:xfrm>
          <a:prstGeom prst="rect">
            <a:avLst/>
          </a:prstGeom>
        </p:spPr>
      </p:pic>
      <p:sp>
        <p:nvSpPr>
          <p:cNvPr id="13" name="Text 9"/>
          <p:cNvSpPr/>
          <p:nvPr/>
        </p:nvSpPr>
        <p:spPr>
          <a:xfrm>
            <a:off x="3522980" y="2128521"/>
            <a:ext cx="18967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TRIG</a:t>
            </a:r>
            <a:endParaRPr lang="en-US" sz="1200" dirty="0"/>
          </a:p>
        </p:txBody>
      </p:sp>
      <p:sp>
        <p:nvSpPr>
          <p:cNvPr id="14" name="Text 10"/>
          <p:cNvSpPr/>
          <p:nvPr/>
        </p:nvSpPr>
        <p:spPr>
          <a:xfrm>
            <a:off x="995680" y="2430782"/>
            <a:ext cx="18967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[ECHO pin] in</a:t>
            </a:r>
            <a:endParaRPr lang="en-US" sz="1200" dirty="0"/>
          </a:p>
        </p:txBody>
      </p:sp>
      <p:pic>
        <p:nvPicPr>
          <p:cNvPr id="15" name="Image 2" descr="arrow-left">    </p:cNvPr>
          <p:cNvPicPr>
            <a:picLocks noChangeAspect="1"/>
          </p:cNvPicPr>
          <p:nvPr/>
        </p:nvPicPr>
        <p:blipFill>
          <a:blip r:embed="rId3"/>
          <a:srcRect l="0" r="0" t="0" b="0"/>
          <a:stretch/>
        </p:blipFill>
        <p:spPr>
          <a:xfrm>
            <a:off x="2926080" y="2448561"/>
            <a:ext cx="355600" cy="177800"/>
          </a:xfrm>
          <a:prstGeom prst="rect">
            <a:avLst/>
          </a:prstGeom>
        </p:spPr>
      </p:pic>
      <p:sp>
        <p:nvSpPr>
          <p:cNvPr id="16" name="Text 11"/>
          <p:cNvSpPr/>
          <p:nvPr/>
        </p:nvSpPr>
        <p:spPr>
          <a:xfrm>
            <a:off x="3522980" y="2430782"/>
            <a:ext cx="18967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ECHO</a:t>
            </a:r>
            <a:endParaRPr lang="en-US" sz="1200" dirty="0"/>
          </a:p>
        </p:txBody>
      </p:sp>
      <p:sp>
        <p:nvSpPr>
          <p:cNvPr id="17" name="Text 12"/>
          <p:cNvSpPr/>
          <p:nvPr/>
        </p:nvSpPr>
        <p:spPr>
          <a:xfrm>
            <a:off x="995680" y="2733039"/>
            <a:ext cx="18967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GND</a:t>
            </a:r>
            <a:endParaRPr lang="en-US" sz="1200" dirty="0"/>
          </a:p>
        </p:txBody>
      </p:sp>
      <p:pic>
        <p:nvPicPr>
          <p:cNvPr id="18" name="Image 3" descr="line">    </p:cNvPr>
          <p:cNvPicPr>
            <a:picLocks noChangeAspect="1"/>
          </p:cNvPicPr>
          <p:nvPr/>
        </p:nvPicPr>
        <p:blipFill>
          <a:blip r:embed="rId4"/>
          <a:srcRect l="0" r="0" t="0" b="0"/>
          <a:stretch/>
        </p:blipFill>
        <p:spPr>
          <a:xfrm>
            <a:off x="2926080" y="2820671"/>
            <a:ext cx="355600" cy="38100"/>
          </a:xfrm>
          <a:prstGeom prst="rect">
            <a:avLst/>
          </a:prstGeom>
        </p:spPr>
      </p:pic>
      <p:sp>
        <p:nvSpPr>
          <p:cNvPr id="19" name="Text 13"/>
          <p:cNvSpPr/>
          <p:nvPr/>
        </p:nvSpPr>
        <p:spPr>
          <a:xfrm>
            <a:off x="3522980" y="2733039"/>
            <a:ext cx="18967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GND</a:t>
            </a:r>
            <a:endParaRPr lang="en-US" sz="1200" dirty="0"/>
          </a:p>
        </p:txBody>
      </p:sp>
      <p:sp>
        <p:nvSpPr>
          <p:cNvPr id="20" name="Shape 14"/>
          <p:cNvSpPr/>
          <p:nvPr/>
        </p:nvSpPr>
        <p:spPr>
          <a:xfrm>
            <a:off x="815975" y="3284857"/>
            <a:ext cx="4819650" cy="1233170"/>
          </a:xfrm>
          <a:prstGeom prst="roundRect">
            <a:avLst>
              <a:gd name="adj" fmla="val 7981"/>
            </a:avLst>
          </a:prstGeom>
          <a:solidFill>
            <a:srgbClr val="131C2E"/>
          </a:solidFill>
          <a:ln w="6350">
            <a:solidFill>
              <a:srgbClr val="24324A"/>
            </a:solidFill>
            <a:prstDash val="solid"/>
          </a:ln>
        </p:spPr>
      </p:sp>
      <p:sp>
        <p:nvSpPr>
          <p:cNvPr id="21" name="Text 15"/>
          <p:cNvSpPr/>
          <p:nvPr/>
        </p:nvSpPr>
        <p:spPr>
          <a:xfrm>
            <a:off x="1066721" y="3439161"/>
            <a:ext cx="4515387" cy="949960"/>
          </a:xfrm>
          <a:prstGeom prst="rect">
            <a:avLst/>
          </a:prstGeom>
          <a:noFill/>
          <a:ln/>
        </p:spPr>
        <p:txBody>
          <a:bodyPr wrap="square" lIns="0" tIns="0" rIns="0" bIns="0" rtlCol="0" anchor="t">
            <a:normAutofit/>
          </a:bodyPr>
          <a:lstStyle/>
          <a:p>
            <a:pPr algn="l" marL="182959" indent="-182959">
              <a:lnSpc>
                <a:spcPts val="1820"/>
              </a:lnSpc>
              <a:buSzPct val="100000"/>
              <a:buFontTx/>
              <a:buAutoNum type="arabicPeriod" startAt="1"/>
            </a:pPr>
            <a:r>
              <a:rPr lang="en-US" sz="1300" dirty="0">
                <a:solidFill>
                  <a:srgbClr val="E6EDF7"/>
                </a:solidFill>
                <a:latin typeface="IBM Plex Sans" pitchFamily="34" charset="0"/>
                <a:ea typeface="IBM Plex Sans" pitchFamily="34" charset="-122"/>
                <a:cs typeface="IBM Plex Sans" pitchFamily="34" charset="-120"/>
              </a:rPr>
              <a:t>TRIG HIGH for at least 10 µs</a:t>
            </a:r>
            <a:endParaRPr lang="en-US" sz="1300" dirty="0"/>
          </a:p>
          <a:p>
            <a:pPr algn="l" marL="182959" indent="-182959">
              <a:lnSpc>
                <a:spcPts val="1820"/>
              </a:lnSpc>
              <a:buSzPct val="100000"/>
              <a:buFontTx/>
              <a:buAutoNum type="arabicPeriod" startAt="1"/>
            </a:pPr>
            <a:r>
              <a:rPr lang="en-US" sz="1300" dirty="0">
                <a:solidFill>
                  <a:srgbClr val="E6EDF7"/>
                </a:solidFill>
                <a:latin typeface="IBM Plex Sans" pitchFamily="34" charset="0"/>
                <a:ea typeface="IBM Plex Sans" pitchFamily="34" charset="-122"/>
                <a:cs typeface="IBM Plex Sans" pitchFamily="34" charset="-120"/>
              </a:rPr>
              <a:t>Sensor sends 8 bursts at 40 kHz</a:t>
            </a:r>
            <a:endParaRPr lang="en-US" sz="1300" dirty="0"/>
          </a:p>
          <a:p>
            <a:pPr algn="l" marL="182959" indent="-182959">
              <a:lnSpc>
                <a:spcPts val="1820"/>
              </a:lnSpc>
              <a:buSzPct val="100000"/>
              <a:buFontTx/>
              <a:buAutoNum type="arabicPeriod" startAt="1"/>
            </a:pPr>
            <a:r>
              <a:rPr lang="en-US" sz="1300" dirty="0">
                <a:solidFill>
                  <a:srgbClr val="E6EDF7"/>
                </a:solidFill>
                <a:latin typeface="IBM Plex Sans" pitchFamily="34" charset="0"/>
                <a:ea typeface="IBM Plex Sans" pitchFamily="34" charset="-122"/>
                <a:cs typeface="IBM Plex Sans" pitchFamily="34" charset="-120"/>
              </a:rPr>
              <a:t>ECHO stays HIGH for the round trip</a:t>
            </a:r>
            <a:endParaRPr lang="en-US" sz="1300" dirty="0"/>
          </a:p>
          <a:p>
            <a:pPr algn="l" marL="182959" indent="-182959">
              <a:lnSpc>
                <a:spcPts val="1820"/>
              </a:lnSpc>
              <a:buSzPct val="100000"/>
              <a:buFontTx/>
              <a:buAutoNum type="arabicPeriod" startAt="1"/>
            </a:pPr>
            <a:r>
              <a:rPr lang="en-US" sz="1300" dirty="0">
                <a:solidFill>
                  <a:srgbClr val="E6EDF7"/>
                </a:solidFill>
                <a:latin typeface="IBM Plex Sans" pitchFamily="34" charset="0"/>
                <a:ea typeface="IBM Plex Sans" pitchFamily="34" charset="-122"/>
                <a:cs typeface="IBM Plex Sans" pitchFamily="34" charset="-120"/>
              </a:rPr>
              <a:t>Driver times ECHO, with a timeout</a:t>
            </a:r>
            <a:endParaRPr lang="en-US" sz="1300" dirty="0"/>
          </a:p>
        </p:txBody>
      </p:sp>
      <p:sp>
        <p:nvSpPr>
          <p:cNvPr id="22" name="Shape 16"/>
          <p:cNvSpPr/>
          <p:nvPr/>
        </p:nvSpPr>
        <p:spPr>
          <a:xfrm>
            <a:off x="5797550" y="1347471"/>
            <a:ext cx="5575300" cy="1344930"/>
          </a:xfrm>
          <a:prstGeom prst="roundRect">
            <a:avLst>
              <a:gd name="adj" fmla="val 7082"/>
            </a:avLst>
          </a:prstGeom>
          <a:solidFill>
            <a:srgbClr val="131C2E"/>
          </a:solidFill>
          <a:ln w="12700">
            <a:solidFill>
              <a:srgbClr val="4ADE80"/>
            </a:solidFill>
            <a:prstDash val="solid"/>
          </a:ln>
        </p:spPr>
      </p:sp>
      <p:sp>
        <p:nvSpPr>
          <p:cNvPr id="23" name="Text 17"/>
          <p:cNvSpPr/>
          <p:nvPr/>
        </p:nvSpPr>
        <p:spPr>
          <a:xfrm>
            <a:off x="5979160" y="1503682"/>
            <a:ext cx="5368442"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6EDF7"/>
                </a:solidFill>
                <a:latin typeface="JetBrains Mono" pitchFamily="49" charset="0"/>
                <a:ea typeface="JetBrains Mono" pitchFamily="49" charset="-122"/>
                <a:cs typeface="JetBrains Mono" pitchFamily="49" charset="-120"/>
              </a:rPr>
              <a:t>Distance = (t × v) / 2</a:t>
            </a:r>
            <a:endParaRPr lang="en-US" sz="1400" dirty="0"/>
          </a:p>
        </p:txBody>
      </p:sp>
      <p:sp>
        <p:nvSpPr>
          <p:cNvPr id="24" name="Text 18"/>
          <p:cNvSpPr/>
          <p:nvPr/>
        </p:nvSpPr>
        <p:spPr>
          <a:xfrm>
            <a:off x="5979160" y="1774189"/>
            <a:ext cx="5368442"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6EDF7"/>
                </a:solidFill>
                <a:latin typeface="JetBrains Mono" pitchFamily="49" charset="0"/>
                <a:ea typeface="JetBrains Mono" pitchFamily="49" charset="-122"/>
                <a:cs typeface="JetBrains Mono" pitchFamily="49" charset="-120"/>
              </a:rPr>
              <a:t>v ≈ 343 m/s = 0.0343 cm/µs</a:t>
            </a:r>
            <a:endParaRPr lang="en-US" sz="1400" dirty="0"/>
          </a:p>
        </p:txBody>
      </p:sp>
      <p:sp>
        <p:nvSpPr>
          <p:cNvPr id="25" name="Text 19"/>
          <p:cNvSpPr/>
          <p:nvPr/>
        </p:nvSpPr>
        <p:spPr>
          <a:xfrm>
            <a:off x="5979160" y="2044700"/>
            <a:ext cx="5368442"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DE80"/>
                </a:solidFill>
                <a:latin typeface="JetBrains Mono" pitchFamily="49" charset="0"/>
                <a:ea typeface="JetBrains Mono" pitchFamily="49" charset="-122"/>
                <a:cs typeface="JetBrains Mono" pitchFamily="49" charset="-120"/>
              </a:rPr>
              <a:t>d (cm) ≈ t (µs) / 58</a:t>
            </a:r>
            <a:endParaRPr lang="en-US" sz="1400" dirty="0"/>
          </a:p>
        </p:txBody>
      </p:sp>
      <p:sp>
        <p:nvSpPr>
          <p:cNvPr id="26" name="Text 20"/>
          <p:cNvSpPr/>
          <p:nvPr/>
        </p:nvSpPr>
        <p:spPr>
          <a:xfrm>
            <a:off x="5979160" y="2315211"/>
            <a:ext cx="5368442"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9FB0C8"/>
                </a:solidFill>
                <a:latin typeface="JetBrains Mono" pitchFamily="49" charset="0"/>
                <a:ea typeface="JetBrains Mono" pitchFamily="49" charset="-122"/>
                <a:cs typeface="JetBrains Mono" pitchFamily="49" charset="-120"/>
              </a:rPr>
              <a:t>e.g. t = 1160 µs → about 20 cm</a:t>
            </a:r>
            <a:endParaRPr lang="en-US" sz="1200" dirty="0"/>
          </a:p>
        </p:txBody>
      </p:sp>
      <p:sp>
        <p:nvSpPr>
          <p:cNvPr id="27" name="Text 21"/>
          <p:cNvSpPr/>
          <p:nvPr/>
        </p:nvSpPr>
        <p:spPr>
          <a:xfrm>
            <a:off x="5791200" y="2851150"/>
            <a:ext cx="5588000" cy="1188720"/>
          </a:xfrm>
          <a:prstGeom prst="roundRect">
            <a:avLst>
              <a:gd name="adj" fmla="val 6410"/>
            </a:avLst>
          </a:prstGeom>
          <a:solidFill>
            <a:srgbClr val="0E1626"/>
          </a:solidFill>
          <a:ln/>
        </p:spPr>
        <p:txBody>
          <a:bodyPr wrap="square" lIns="216442" tIns="130082" rIns="26500" bIns="104682" rtlCol="0" anchor="t">
            <a:normAutofit/>
          </a:bodyPr>
          <a:lstStyle/>
          <a:p>
            <a:pPr algn="l" indent="0" marL="0">
              <a:lnSpc>
                <a:spcPts val="1740"/>
              </a:lnSpc>
              <a:buNone/>
            </a:pPr>
            <a:r>
              <a:rPr lang="en-US" sz="1200" dirty="0">
                <a:solidFill>
                  <a:srgbClr val="7C8DA6"/>
                </a:solidFill>
                <a:latin typeface="JetBrains Mono" pitchFamily="49" charset="0"/>
                <a:ea typeface="JetBrains Mono" pitchFamily="49" charset="-122"/>
                <a:cs typeface="JetBrains Mono" pitchFamily="49" charset="-120"/>
              </a:rPr>
              <a:t>// ILLUSTRATIVE</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trigger_pulse();</a:t>
            </a:r>
            <a:r>
              <a:rPr lang="en-US" sz="1200" dirty="0">
                <a:solidFill>
                  <a:srgbClr val="7C8DA6"/>
                </a:solidFill>
                <a:latin typeface="JetBrains Mono" pitchFamily="49" charset="0"/>
                <a:ea typeface="JetBrains Mono" pitchFamily="49" charset="-122"/>
                <a:cs typeface="JetBrains Mono" pitchFamily="49" charset="-120"/>
              </a:rPr>
              <a:t>     // 10 us HIGH</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t_us = echo_high_time(TIMEOUT);</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return t_us / 58;</a:t>
            </a:r>
            <a:r>
              <a:rPr lang="en-US" sz="1200" dirty="0">
                <a:solidFill>
                  <a:srgbClr val="7C8DA6"/>
                </a:solidFill>
                <a:latin typeface="JetBrains Mono" pitchFamily="49" charset="0"/>
                <a:ea typeface="JetBrains Mono" pitchFamily="49" charset="-122"/>
                <a:cs typeface="JetBrains Mono" pitchFamily="49" charset="-120"/>
              </a:rPr>
              <a:t>   // cm, 0 = timeout</a:t>
            </a:r>
            <a:endParaRPr lang="en-US" sz="1200" dirty="0"/>
          </a:p>
        </p:txBody>
      </p:sp>
      <p:sp>
        <p:nvSpPr>
          <p:cNvPr id="28" name="Shape 22"/>
          <p:cNvSpPr/>
          <p:nvPr/>
        </p:nvSpPr>
        <p:spPr>
          <a:xfrm>
            <a:off x="5791200" y="2851150"/>
            <a:ext cx="5588000" cy="1188720"/>
          </a:xfrm>
          <a:custGeom>
            <a:avLst/>
            <a:gdLst/>
            <a:ahLst/>
            <a:cxnLst/>
            <a:rect l="l" t="t" r="r" b="b"/>
            <a:pathLst>
              <a:path w="5588000" h="1188720">
                <a:moveTo>
                  <a:pt x="76200" y="1188720"/>
                </a:moveTo>
                <a:lnTo>
                  <a:pt x="76200" y="1188720"/>
                </a:lnTo>
                <a:arcTo hR="76200" wR="76200" stAng="5400000" swAng="5400000"/>
                <a:lnTo>
                  <a:pt x="0" y="76200"/>
                </a:lnTo>
                <a:arcTo hR="76200" wR="76200" stAng="10800000" swAng="5400000"/>
                <a:lnTo>
                  <a:pt x="76200" y="0"/>
                </a:lnTo>
                <a:arcTo hR="76200" wR="38100" stAng="16200000" swAng="-5400000"/>
                <a:lnTo>
                  <a:pt x="38100" y="1112520"/>
                </a:lnTo>
                <a:arcTo hR="76200" wR="38100" stAng="10800000" swAng="-5400000"/>
                <a:close/>
              </a:path>
            </a:pathLst>
          </a:custGeom>
          <a:solidFill>
            <a:srgbClr val="22D3EE"/>
          </a:solidFill>
          <a:ln/>
        </p:spPr>
      </p:sp>
      <p:sp>
        <p:nvSpPr>
          <p:cNvPr id="29" name="Shape 23"/>
          <p:cNvSpPr/>
          <p:nvPr/>
        </p:nvSpPr>
        <p:spPr>
          <a:xfrm>
            <a:off x="5794375" y="4195446"/>
            <a:ext cx="5581650" cy="1426210"/>
          </a:xfrm>
          <a:prstGeom prst="roundRect">
            <a:avLst>
              <a:gd name="adj" fmla="val 6901"/>
            </a:avLst>
          </a:prstGeom>
          <a:solidFill>
            <a:srgbClr val="131C2E"/>
          </a:solidFill>
          <a:ln w="6350">
            <a:solidFill>
              <a:srgbClr val="24324A"/>
            </a:solidFill>
            <a:prstDash val="solid"/>
          </a:ln>
        </p:spPr>
      </p:sp>
      <p:sp>
        <p:nvSpPr>
          <p:cNvPr id="30" name="Text 24"/>
          <p:cNvSpPr/>
          <p:nvPr/>
        </p:nvSpPr>
        <p:spPr>
          <a:xfrm>
            <a:off x="5974080" y="4349750"/>
            <a:ext cx="537890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BBF24"/>
                </a:solidFill>
                <a:latin typeface="IBM Plex Sans" pitchFamily="34" charset="0"/>
                <a:ea typeface="IBM Plex Sans" pitchFamily="34" charset="-122"/>
                <a:cs typeface="IBM Plex Sans" pitchFamily="34" charset="-120"/>
              </a:rPr>
              <a:t>Common causes of a zero reading</a:t>
            </a:r>
            <a:endParaRPr lang="en-US" sz="1400" dirty="0"/>
          </a:p>
        </p:txBody>
      </p:sp>
      <p:sp>
        <p:nvSpPr>
          <p:cNvPr id="31" name="Text 25"/>
          <p:cNvSpPr/>
          <p:nvPr/>
        </p:nvSpPr>
        <p:spPr>
          <a:xfrm>
            <a:off x="6072886" y="4613911"/>
            <a:ext cx="5272481" cy="87884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E6EDF7"/>
                </a:solidFill>
                <a:latin typeface="IBM Plex Sans" pitchFamily="34" charset="0"/>
                <a:ea typeface="IBM Plex Sans" pitchFamily="34" charset="-122"/>
                <a:cs typeface="IBM Plex Sans" pitchFamily="34" charset="-120"/>
              </a:rPr>
              <a:t>No echo: object outside 2–400 cm, or soft / angled</a:t>
            </a:r>
            <a:endParaRPr lang="en-US" sz="1200" dirty="0"/>
          </a:p>
          <a:p>
            <a:pPr algn="l" marL="155194" indent="-155194">
              <a:lnSpc>
                <a:spcPts val="1680"/>
              </a:lnSpc>
              <a:buSzPct val="100000"/>
              <a:buChar char="•"/>
            </a:pPr>
            <a:r>
              <a:rPr lang="en-US" sz="1200" dirty="0">
                <a:solidFill>
                  <a:srgbClr val="E6EDF7"/>
                </a:solidFill>
                <a:latin typeface="IBM Plex Sans" pitchFamily="34" charset="0"/>
                <a:ea typeface="IBM Plex Sans" pitchFamily="34" charset="-122"/>
                <a:cs typeface="IBM Plex Sans" pitchFamily="34" charset="-120"/>
              </a:rPr>
              <a:t>TRIG and ECHO swapped, or 5 V / GND missing</a:t>
            </a:r>
            <a:endParaRPr lang="en-US" sz="1200" dirty="0"/>
          </a:p>
          <a:p>
            <a:pPr algn="l" marL="155194" indent="-155194">
              <a:lnSpc>
                <a:spcPts val="1680"/>
              </a:lnSpc>
              <a:buSzPct val="100000"/>
              <a:buChar char="•"/>
            </a:pPr>
            <a:r>
              <a:rPr lang="en-US" sz="1200" dirty="0">
                <a:solidFill>
                  <a:srgbClr val="E6EDF7"/>
                </a:solidFill>
                <a:latin typeface="IBM Plex Sans" pitchFamily="34" charset="0"/>
                <a:ea typeface="IBM Plex Sans" pitchFamily="34" charset="-122"/>
                <a:cs typeface="IBM Plex Sans" pitchFamily="34" charset="-120"/>
              </a:rPr>
              <a:t>TRIG pulse shorter than 10 µs</a:t>
            </a:r>
            <a:endParaRPr lang="en-US" sz="1200" dirty="0"/>
          </a:p>
          <a:p>
            <a:pPr algn="l" marL="155194" indent="-155194">
              <a:lnSpc>
                <a:spcPts val="1680"/>
              </a:lnSpc>
              <a:buSzPct val="100000"/>
              <a:buChar char="•"/>
            </a:pPr>
            <a:r>
              <a:rPr lang="en-US" sz="1200" dirty="0">
                <a:solidFill>
                  <a:srgbClr val="E6EDF7"/>
                </a:solidFill>
                <a:latin typeface="IBM Plex Sans" pitchFamily="34" charset="0"/>
                <a:ea typeface="IBM Plex Sans" pitchFamily="34" charset="-122"/>
                <a:cs typeface="IBM Plex Sans" pitchFamily="34" charset="-120"/>
              </a:rPr>
              <a:t>Timeout too short, or wrong timer prescaler</a:t>
            </a:r>
            <a:endParaRPr lang="en-US" sz="1200" dirty="0"/>
          </a:p>
        </p:txBody>
      </p:sp>
      <p:sp>
        <p:nvSpPr>
          <p:cNvPr id="32" name="Text 26"/>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A6"/>
                </a:solidFill>
                <a:latin typeface="IBM Plex Sans" pitchFamily="34" charset="0"/>
                <a:ea typeface="IBM Plex Sans" pitchFamily="34" charset="-122"/>
                <a:cs typeface="IBM Plex Sans" pitchFamily="34" charset="-120"/>
              </a:rPr>
              <a:t>Smart Parking Assist · ATmega2560 bare-metal drivers · 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508000"/>
            <a:ext cx="567151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2D3EE"/>
                </a:solidFill>
                <a:latin typeface="JetBrains Mono" pitchFamily="49" charset="0"/>
                <a:ea typeface="JetBrains Mono" pitchFamily="49" charset="-122"/>
                <a:cs typeface="JetBrains Mono" pitchFamily="49" charset="-120"/>
              </a:rPr>
              <a:t>07 · ADC AND IR SENSOR</a:t>
            </a:r>
            <a:endParaRPr lang="en-US" sz="1200" dirty="0"/>
          </a:p>
        </p:txBody>
      </p:sp>
      <p:sp>
        <p:nvSpPr>
          <p:cNvPr id="3" name="Text 1"/>
          <p:cNvSpPr/>
          <p:nvPr>
            <p:ph type="title"/>
          </p:nvPr>
        </p:nvSpPr>
        <p:spPr>
          <a:xfrm>
            <a:off x="812800" y="772161"/>
            <a:ext cx="6607588"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6EDF7"/>
                </a:solidFill>
                <a:latin typeface="IBM Plex Sans" pitchFamily="34" charset="0"/>
                <a:ea typeface="IBM Plex Sans" pitchFamily="34" charset="-122"/>
                <a:cs typeface="IBM Plex Sans" pitchFamily="34" charset="-120"/>
              </a:rPr>
              <a:t>ADC, IR Sensor and Parking Logic</a:t>
            </a:r>
            <a:endParaRPr lang="en-US" sz="2800" dirty="0"/>
          </a:p>
        </p:txBody>
      </p:sp>
      <p:sp>
        <p:nvSpPr>
          <p:cNvPr id="4" name="Text 2"/>
          <p:cNvSpPr/>
          <p:nvPr/>
        </p:nvSpPr>
        <p:spPr>
          <a:xfrm>
            <a:off x="8375015" y="841375"/>
            <a:ext cx="3001010" cy="318770"/>
          </a:xfrm>
          <a:prstGeom prst="roundRect">
            <a:avLst>
              <a:gd name="adj" fmla="val 50000"/>
            </a:avLst>
          </a:prstGeom>
          <a:noFill/>
          <a:ln w="6350">
            <a:solidFill>
              <a:srgbClr val="FBBF24"/>
            </a:solidFill>
            <a:prstDash val="solid"/>
          </a:ln>
        </p:spPr>
        <p:txBody>
          <a:bodyPr wrap="none" lIns="0" tIns="0" rIns="0" bIns="0" rtlCol="0" anchor="ctr">
            <a:normAutofit/>
          </a:bodyPr>
          <a:lstStyle/>
          <a:p>
            <a:pPr algn="ctr" indent="0" marL="0">
              <a:lnSpc>
                <a:spcPts val="1680"/>
              </a:lnSpc>
              <a:buNone/>
            </a:pPr>
            <a:r>
              <a:rPr lang="en-US" sz="1200" dirty="0">
                <a:solidFill>
                  <a:srgbClr val="FBBF24"/>
                </a:solidFill>
                <a:latin typeface="JetBrains Mono" pitchFamily="49" charset="0"/>
                <a:ea typeface="JetBrains Mono" pitchFamily="49" charset="-122"/>
                <a:cs typeface="JetBrains Mono" pitchFamily="49" charset="-120"/>
              </a:rPr>
              <a:t>ILLUSTRATIVE · verify vs adc.c</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351281"/>
          <a:ext cx="5196840" cy="1320800"/>
        </p:xfrm>
        <a:graphic>
          <a:graphicData uri="http://schemas.openxmlformats.org/drawingml/2006/table">
            <a:tbl>
              <a:tblPr/>
              <a:tblGrid>
                <a:gridCol w="1039368"/>
                <a:gridCol w="4157472"/>
              </a:tblGrid>
              <a:tr h="330200">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Register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What we 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E535C"/>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ADMUX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REFS0 = 1 (AVcc reference) · MUX = channel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ADCSRA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ADEN on · ADSC starts · ADPS = 111 (÷128, 125 kHz)</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ADC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10-bit result, 0 to 1023 (ADCL / ADCH)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bl>
          </a:graphicData>
        </a:graphic>
      </p:graphicFrame>
      <p:sp>
        <p:nvSpPr>
          <p:cNvPr id="6" name="Text 3"/>
          <p:cNvSpPr/>
          <p:nvPr/>
        </p:nvSpPr>
        <p:spPr>
          <a:xfrm>
            <a:off x="812800" y="2824482"/>
            <a:ext cx="5207000" cy="1630680"/>
          </a:xfrm>
          <a:prstGeom prst="roundRect">
            <a:avLst>
              <a:gd name="adj" fmla="val 4673"/>
            </a:avLst>
          </a:prstGeom>
          <a:solidFill>
            <a:srgbClr val="0E1626"/>
          </a:solidFill>
          <a:ln/>
        </p:spPr>
        <p:txBody>
          <a:bodyPr wrap="square" lIns="216442" tIns="130082" rIns="37930" bIns="104682" rtlCol="0" anchor="t">
            <a:normAutofit/>
          </a:bodyPr>
          <a:lstStyle/>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ADMUX  = (1&lt;&lt;REFS0) | (ch &amp; 7);</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ADCSRA = (1&lt;&lt;ADEN) | (1&lt;&lt;ADPS2)</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       | (1&lt;&lt;ADPS1) | (1&lt;&lt;ADPS0);</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ADCSRA |= (1&lt;&lt;ADSC);</a:t>
            </a:r>
            <a:r>
              <a:rPr lang="en-US" sz="1200" dirty="0">
                <a:solidFill>
                  <a:srgbClr val="7C8DA6"/>
                </a:solidFill>
                <a:latin typeface="JetBrains Mono" pitchFamily="49" charset="0"/>
                <a:ea typeface="JetBrains Mono" pitchFamily="49" charset="-122"/>
                <a:cs typeface="JetBrains Mono" pitchFamily="49" charset="-120"/>
              </a:rPr>
              <a:t>      // start</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while (ADCSRA &amp; (1&lt;&lt;ADSC));</a:t>
            </a:r>
            <a:r>
              <a:rPr lang="en-US" sz="1200" dirty="0">
                <a:solidFill>
                  <a:srgbClr val="7C8DA6"/>
                </a:solidFill>
                <a:latin typeface="JetBrains Mono" pitchFamily="49" charset="0"/>
                <a:ea typeface="JetBrains Mono" pitchFamily="49" charset="-122"/>
                <a:cs typeface="JetBrains Mono" pitchFamily="49" charset="-120"/>
              </a:rPr>
              <a:t> // wait</a:t>
            </a:r>
            <a:endParaRPr lang="en-US" sz="1200" dirty="0"/>
          </a:p>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return ADC;</a:t>
            </a:r>
            <a:r>
              <a:rPr lang="en-US" sz="1200" dirty="0">
                <a:solidFill>
                  <a:srgbClr val="7C8DA6"/>
                </a:solidFill>
                <a:latin typeface="JetBrains Mono" pitchFamily="49" charset="0"/>
                <a:ea typeface="JetBrains Mono" pitchFamily="49" charset="-122"/>
                <a:cs typeface="JetBrains Mono" pitchFamily="49" charset="-120"/>
              </a:rPr>
              <a:t>               // 0..1023</a:t>
            </a:r>
            <a:endParaRPr lang="en-US" sz="1200" dirty="0"/>
          </a:p>
        </p:txBody>
      </p:sp>
      <p:sp>
        <p:nvSpPr>
          <p:cNvPr id="7" name="Shape 4"/>
          <p:cNvSpPr/>
          <p:nvPr/>
        </p:nvSpPr>
        <p:spPr>
          <a:xfrm>
            <a:off x="812800" y="2824482"/>
            <a:ext cx="5207000" cy="1630680"/>
          </a:xfrm>
          <a:custGeom>
            <a:avLst/>
            <a:gdLst/>
            <a:ahLst/>
            <a:cxnLst/>
            <a:rect l="l" t="t" r="r" b="b"/>
            <a:pathLst>
              <a:path w="5207000" h="1630680">
                <a:moveTo>
                  <a:pt x="76200" y="1630680"/>
                </a:moveTo>
                <a:lnTo>
                  <a:pt x="76200" y="1630680"/>
                </a:lnTo>
                <a:arcTo hR="76200" wR="76200" stAng="5400000" swAng="5400000"/>
                <a:lnTo>
                  <a:pt x="0" y="76200"/>
                </a:lnTo>
                <a:arcTo hR="76200" wR="76200" stAng="10800000" swAng="5400000"/>
                <a:lnTo>
                  <a:pt x="76200" y="0"/>
                </a:lnTo>
                <a:arcTo hR="76200" wR="38100" stAng="16200000" swAng="-5400000"/>
                <a:lnTo>
                  <a:pt x="38100" y="1554480"/>
                </a:lnTo>
                <a:arcTo hR="76200" wR="38100" stAng="10800000" swAng="-5400000"/>
                <a:close/>
              </a:path>
            </a:pathLst>
          </a:custGeom>
          <a:solidFill>
            <a:srgbClr val="22D3EE"/>
          </a:solidFill>
          <a:ln/>
        </p:spPr>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182360" y="1351281"/>
          <a:ext cx="5196840" cy="1320800"/>
        </p:xfrm>
        <a:graphic>
          <a:graphicData uri="http://schemas.openxmlformats.org/drawingml/2006/table">
            <a:tbl>
              <a:tblPr/>
              <a:tblGrid>
                <a:gridCol w="1247242"/>
                <a:gridCol w="1974799"/>
                <a:gridCol w="1974799"/>
              </a:tblGrid>
              <a:tr h="330200">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Aspect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Digital IR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E535C"/>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Analog IR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E535C"/>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Output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0 or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0–5 V level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Read 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gpio_read()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ADC driver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Gives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Present / absent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Level to compare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bl>
          </a:graphicData>
        </a:graphic>
      </p:graphicFrame>
      <p:sp>
        <p:nvSpPr>
          <p:cNvPr id="9" name="Shape 5"/>
          <p:cNvSpPr/>
          <p:nvPr/>
        </p:nvSpPr>
        <p:spPr>
          <a:xfrm>
            <a:off x="6175375" y="2827657"/>
            <a:ext cx="5200650" cy="1065530"/>
          </a:xfrm>
          <a:prstGeom prst="roundRect">
            <a:avLst>
              <a:gd name="adj" fmla="val 9237"/>
            </a:avLst>
          </a:prstGeom>
          <a:solidFill>
            <a:srgbClr val="131C2E"/>
          </a:solidFill>
          <a:ln w="6350">
            <a:solidFill>
              <a:srgbClr val="24324A"/>
            </a:solidFill>
            <a:prstDash val="solid"/>
          </a:ln>
        </p:spPr>
      </p:sp>
      <p:sp>
        <p:nvSpPr>
          <p:cNvPr id="10" name="Text 6"/>
          <p:cNvSpPr/>
          <p:nvPr/>
        </p:nvSpPr>
        <p:spPr>
          <a:xfrm>
            <a:off x="6355080" y="2981961"/>
            <a:ext cx="4986477"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state = (reading vs [THRESHOLD])</a:t>
            </a:r>
            <a:endParaRPr lang="en-US" sz="1200" dirty="0"/>
          </a:p>
        </p:txBody>
      </p:sp>
      <p:sp>
        <p:nvSpPr>
          <p:cNvPr id="11" name="Text 7"/>
          <p:cNvSpPr/>
          <p:nvPr/>
        </p:nvSpPr>
        <p:spPr>
          <a:xfrm>
            <a:off x="6355080" y="3253739"/>
            <a:ext cx="4986477"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6EDF7"/>
                </a:solidFill>
                <a:latin typeface="JetBrains Mono" pitchFamily="49" charset="0"/>
                <a:ea typeface="JetBrains Mono" pitchFamily="49" charset="-122"/>
                <a:cs typeface="JetBrains Mono" pitchFamily="49" charset="-120"/>
              </a:rPr>
              <a:t>        ? [OCCUPIED] : [FREE];</a:t>
            </a:r>
            <a:endParaRPr lang="en-US" sz="1200" dirty="0"/>
          </a:p>
        </p:txBody>
      </p:sp>
      <p:sp>
        <p:nvSpPr>
          <p:cNvPr id="12" name="Text 8"/>
          <p:cNvSpPr/>
          <p:nvPr/>
        </p:nvSpPr>
        <p:spPr>
          <a:xfrm>
            <a:off x="6355080" y="3525521"/>
            <a:ext cx="498647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BBF24"/>
                </a:solidFill>
                <a:latin typeface="IBM Plex Sans" pitchFamily="34" charset="0"/>
                <a:ea typeface="IBM Plex Sans" pitchFamily="34" charset="-122"/>
                <a:cs typeface="IBM Plex Sans" pitchFamily="34" charset="-120"/>
              </a:rPr>
              <a:t>Use the real threshold and state names from the source only.</a:t>
            </a:r>
            <a:endParaRPr lang="en-US" sz="1200" dirty="0"/>
          </a:p>
        </p:txBody>
      </p:sp>
      <p:sp>
        <p:nvSpPr>
          <p:cNvPr id="13" name="Shape 9"/>
          <p:cNvSpPr/>
          <p:nvPr/>
        </p:nvSpPr>
        <p:spPr>
          <a:xfrm>
            <a:off x="6178550" y="4055111"/>
            <a:ext cx="5194300" cy="1016635"/>
          </a:xfrm>
          <a:prstGeom prst="roundRect">
            <a:avLst>
              <a:gd name="adj" fmla="val 9369"/>
            </a:avLst>
          </a:prstGeom>
          <a:solidFill>
            <a:srgbClr val="131C2E"/>
          </a:solidFill>
          <a:ln w="12700">
            <a:solidFill>
              <a:srgbClr val="4ADE80"/>
            </a:solidFill>
            <a:prstDash val="solid"/>
          </a:ln>
        </p:spPr>
      </p:sp>
      <p:sp>
        <p:nvSpPr>
          <p:cNvPr id="14" name="Text 10"/>
          <p:cNvSpPr/>
          <p:nvPr/>
        </p:nvSpPr>
        <p:spPr>
          <a:xfrm>
            <a:off x="6360160" y="4211321"/>
            <a:ext cx="4976012" cy="26479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6EDF7"/>
                </a:solidFill>
                <a:latin typeface="JetBrains Mono" pitchFamily="49" charset="0"/>
                <a:ea typeface="JetBrains Mono" pitchFamily="49" charset="-122"/>
                <a:cs typeface="JetBrains Mono" pitchFamily="49" charset="-120"/>
              </a:rPr>
              <a:t>ADC = 512 → 512 / 1024 × 5 V = </a:t>
            </a:r>
            <a:r>
              <a:rPr lang="en-US" sz="1300" dirty="0">
                <a:solidFill>
                  <a:srgbClr val="4ADE80"/>
                </a:solidFill>
                <a:latin typeface="JetBrains Mono" pitchFamily="49" charset="0"/>
                <a:ea typeface="JetBrains Mono" pitchFamily="49" charset="-122"/>
                <a:cs typeface="JetBrains Mono" pitchFamily="49" charset="-120"/>
              </a:rPr>
              <a:t>2.5 V</a:t>
            </a:r>
            <a:endParaRPr lang="en-US" sz="1300" dirty="0"/>
          </a:p>
        </p:txBody>
      </p:sp>
      <p:sp>
        <p:nvSpPr>
          <p:cNvPr id="15" name="Text 11"/>
          <p:cNvSpPr/>
          <p:nvPr/>
        </p:nvSpPr>
        <p:spPr>
          <a:xfrm>
            <a:off x="6360160" y="4488814"/>
            <a:ext cx="49760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A voltage level, not centimetres. IR output depends on surface and light, so it only supports threshold decisions.</a:t>
            </a:r>
            <a:endParaRPr lang="en-US" sz="1200" dirty="0"/>
          </a:p>
        </p:txBody>
      </p:sp>
      <p:sp>
        <p:nvSpPr>
          <p:cNvPr id="16" name="Text 1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A6"/>
                </a:solidFill>
                <a:latin typeface="IBM Plex Sans" pitchFamily="34" charset="0"/>
                <a:ea typeface="IBM Plex Sans" pitchFamily="34" charset="-122"/>
                <a:cs typeface="IBM Plex Sans" pitchFamily="34" charset="-120"/>
              </a:rPr>
              <a:t>Smart Parking Assist · ATmega2560 bare-metal drivers · 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508000"/>
            <a:ext cx="6589799"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2D3EE"/>
                </a:solidFill>
                <a:latin typeface="JetBrains Mono" pitchFamily="49" charset="0"/>
                <a:ea typeface="JetBrains Mono" pitchFamily="49" charset="-122"/>
                <a:cs typeface="JetBrains Mono" pitchFamily="49" charset="-120"/>
              </a:rPr>
              <a:t>08 · DISPLAY, LED AND BUZZER</a:t>
            </a:r>
            <a:endParaRPr lang="en-US" sz="1200" dirty="0"/>
          </a:p>
        </p:txBody>
      </p:sp>
      <p:sp>
        <p:nvSpPr>
          <p:cNvPr id="3" name="Text 1"/>
          <p:cNvSpPr/>
          <p:nvPr>
            <p:ph type="title"/>
          </p:nvPr>
        </p:nvSpPr>
        <p:spPr>
          <a:xfrm>
            <a:off x="812800" y="772161"/>
            <a:ext cx="746760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6EDF7"/>
                </a:solidFill>
                <a:latin typeface="IBM Plex Sans" pitchFamily="34" charset="0"/>
                <a:ea typeface="IBM Plex Sans" pitchFamily="34" charset="-122"/>
                <a:cs typeface="IBM Plex Sans" pitchFamily="34" charset="-120"/>
              </a:rPr>
              <a:t>Seven-Segment Display and Indicators</a:t>
            </a:r>
            <a:endParaRPr lang="en-US" sz="2800" dirty="0"/>
          </a:p>
        </p:txBody>
      </p:sp>
      <p:sp>
        <p:nvSpPr>
          <p:cNvPr id="4" name="Text 2"/>
          <p:cNvSpPr/>
          <p:nvPr/>
        </p:nvSpPr>
        <p:spPr>
          <a:xfrm>
            <a:off x="8283575" y="841375"/>
            <a:ext cx="3092450" cy="318770"/>
          </a:xfrm>
          <a:prstGeom prst="roundRect">
            <a:avLst>
              <a:gd name="adj" fmla="val 50000"/>
            </a:avLst>
          </a:prstGeom>
          <a:noFill/>
          <a:ln w="6350">
            <a:solidFill>
              <a:srgbClr val="FBBF24"/>
            </a:solidFill>
            <a:prstDash val="solid"/>
          </a:ln>
        </p:spPr>
        <p:txBody>
          <a:bodyPr wrap="none" lIns="0" tIns="0" rIns="0" bIns="0" rtlCol="0" anchor="ctr">
            <a:normAutofit/>
          </a:bodyPr>
          <a:lstStyle/>
          <a:p>
            <a:pPr algn="ctr" indent="0" marL="0">
              <a:lnSpc>
                <a:spcPts val="1680"/>
              </a:lnSpc>
              <a:buNone/>
            </a:pPr>
            <a:r>
              <a:rPr lang="en-US" sz="1200" dirty="0">
                <a:solidFill>
                  <a:srgbClr val="FBBF24"/>
                </a:solidFill>
                <a:latin typeface="JetBrains Mono" pitchFamily="49" charset="0"/>
                <a:ea typeface="JetBrains Mono" pitchFamily="49" charset="-122"/>
                <a:cs typeface="JetBrains Mono" pitchFamily="49" charset="-120"/>
              </a:rPr>
              <a:t>ILLUSTRATIVE · verify vs source</a:t>
            </a:r>
            <a:endParaRPr lang="en-US" sz="1200" dirty="0"/>
          </a:p>
        </p:txBody>
      </p:sp>
      <p:sp>
        <p:nvSpPr>
          <p:cNvPr id="5" name="Shape 3"/>
          <p:cNvSpPr/>
          <p:nvPr/>
        </p:nvSpPr>
        <p:spPr>
          <a:xfrm>
            <a:off x="815975" y="1344296"/>
            <a:ext cx="4438650" cy="2322830"/>
          </a:xfrm>
          <a:prstGeom prst="roundRect">
            <a:avLst>
              <a:gd name="adj" fmla="val 4237"/>
            </a:avLst>
          </a:prstGeom>
          <a:solidFill>
            <a:srgbClr val="131C2E"/>
          </a:solidFill>
          <a:ln w="6350">
            <a:solidFill>
              <a:srgbClr val="24324A"/>
            </a:solidFill>
            <a:prstDash val="solid"/>
          </a:ln>
        </p:spPr>
      </p:sp>
      <p:pic>
        <p:nvPicPr>
          <p:cNvPr id="6" name="Image 0" descr="Two seven-segment digits showing 25 with lit segments in cyan">    </p:cNvPr>
          <p:cNvPicPr>
            <a:picLocks noChangeAspect="1"/>
          </p:cNvPicPr>
          <p:nvPr/>
        </p:nvPicPr>
        <p:blipFill>
          <a:blip r:embed="rId1"/>
          <a:srcRect l="0" r="0" t="0" b="0"/>
          <a:stretch/>
        </p:blipFill>
        <p:spPr>
          <a:xfrm>
            <a:off x="1955800" y="1498600"/>
            <a:ext cx="2159000" cy="1524000"/>
          </a:xfrm>
          <a:prstGeom prst="rect">
            <a:avLst/>
          </a:prstGeom>
        </p:spPr>
      </p:pic>
      <p:sp>
        <p:nvSpPr>
          <p:cNvPr id="7" name="Text 4"/>
          <p:cNvSpPr/>
          <p:nvPr/>
        </p:nvSpPr>
        <p:spPr>
          <a:xfrm>
            <a:off x="908329" y="3086100"/>
            <a:ext cx="4253941"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FB0C8"/>
                </a:solidFill>
                <a:latin typeface="IBM Plex Sans" pitchFamily="34" charset="0"/>
                <a:ea typeface="IBM Plex Sans" pitchFamily="34" charset="-122"/>
                <a:cs typeface="IBM Plex Sans" pitchFamily="34" charset="-120"/>
              </a:rPr>
              <a:t>Segments a–g are shared. Digit-select lines pick one digit at a time.</a:t>
            </a:r>
            <a:endParaRPr lang="en-US" sz="1200" dirty="0"/>
          </a:p>
        </p:txBody>
      </p:sp>
      <p:sp>
        <p:nvSpPr>
          <p:cNvPr id="8" name="Shape 5"/>
          <p:cNvSpPr/>
          <p:nvPr/>
        </p:nvSpPr>
        <p:spPr>
          <a:xfrm>
            <a:off x="815975" y="3825875"/>
            <a:ext cx="4438650" cy="1852930"/>
          </a:xfrm>
          <a:prstGeom prst="roundRect">
            <a:avLst>
              <a:gd name="adj" fmla="val 5312"/>
            </a:avLst>
          </a:prstGeom>
          <a:solidFill>
            <a:srgbClr val="131C2E"/>
          </a:solidFill>
          <a:ln w="6350">
            <a:solidFill>
              <a:srgbClr val="24324A"/>
            </a:solidFill>
            <a:prstDash val="solid"/>
          </a:ln>
        </p:spPr>
      </p:sp>
      <p:sp>
        <p:nvSpPr>
          <p:cNvPr id="9" name="Text 6"/>
          <p:cNvSpPr/>
          <p:nvPr/>
        </p:nvSpPr>
        <p:spPr>
          <a:xfrm>
            <a:off x="995680" y="3980182"/>
            <a:ext cx="420161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ADE80"/>
                </a:solidFill>
                <a:latin typeface="IBM Plex Sans" pitchFamily="34" charset="0"/>
                <a:ea typeface="IBM Plex Sans" pitchFamily="34" charset="-122"/>
                <a:cs typeface="IBM Plex Sans" pitchFamily="34" charset="-120"/>
              </a:rPr>
              <a:t>Sensor to output</a:t>
            </a:r>
            <a:endParaRPr lang="en-US" sz="1400" dirty="0"/>
          </a:p>
        </p:txBody>
      </p:sp>
      <p:sp>
        <p:nvSpPr>
          <p:cNvPr id="10" name="Text 7"/>
          <p:cNvSpPr/>
          <p:nvPr/>
        </p:nvSpPr>
        <p:spPr>
          <a:xfrm>
            <a:off x="1080770" y="4244342"/>
            <a:ext cx="4108907" cy="1305560"/>
          </a:xfrm>
          <a:prstGeom prst="rect">
            <a:avLst/>
          </a:prstGeom>
          <a:noFill/>
          <a:ln/>
        </p:spPr>
        <p:txBody>
          <a:bodyPr wrap="square" lIns="0" tIns="0" rIns="0" bIns="0" rtlCol="0" anchor="t">
            <a:normAutofit/>
          </a:bodyPr>
          <a:lstStyle/>
          <a:p>
            <a:pPr algn="l" marL="168910" indent="-168910">
              <a:lnSpc>
                <a:spcPts val="1680"/>
              </a:lnSpc>
              <a:buSzPct val="100000"/>
              <a:buFontTx/>
              <a:buAutoNum type="arabicPeriod" startAt="1"/>
            </a:pPr>
            <a:r>
              <a:rPr lang="en-US" sz="1200" dirty="0">
                <a:solidFill>
                  <a:srgbClr val="E6EDF7"/>
                </a:solidFill>
                <a:latin typeface="IBM Plex Sans" pitchFamily="34" charset="0"/>
                <a:ea typeface="IBM Plex Sans" pitchFamily="34" charset="-122"/>
                <a:cs typeface="IBM Plex Sans" pitchFamily="34" charset="-120"/>
              </a:rPr>
              <a:t>Sensor reading</a:t>
            </a:r>
            <a:endParaRPr lang="en-US" sz="1200" dirty="0"/>
          </a:p>
          <a:p>
            <a:pPr algn="l" marL="168910" indent="-168910">
              <a:lnSpc>
                <a:spcPts val="1680"/>
              </a:lnSpc>
              <a:buSzPct val="100000"/>
              <a:buFontTx/>
              <a:buAutoNum type="arabicPeriod" startAt="1"/>
            </a:pPr>
            <a:r>
              <a:rPr lang="en-US" sz="1200" dirty="0">
                <a:solidFill>
                  <a:srgbClr val="E6EDF7"/>
                </a:solidFill>
                <a:latin typeface="IBM Plex Sans" pitchFamily="34" charset="0"/>
                <a:ea typeface="IBM Plex Sans" pitchFamily="34" charset="-122"/>
                <a:cs typeface="IBM Plex Sans" pitchFamily="34" charset="-120"/>
              </a:rPr>
              <a:t>Distance or parking state</a:t>
            </a:r>
            <a:endParaRPr lang="en-US" sz="1200" dirty="0"/>
          </a:p>
          <a:p>
            <a:pPr algn="l" marL="168910" indent="-168910">
              <a:lnSpc>
                <a:spcPts val="1680"/>
              </a:lnSpc>
              <a:buSzPct val="100000"/>
              <a:buFontTx/>
              <a:buAutoNum type="arabicPeriod" startAt="1"/>
            </a:pPr>
            <a:r>
              <a:rPr lang="en-US" sz="1200" dirty="0">
                <a:solidFill>
                  <a:srgbClr val="E6EDF7"/>
                </a:solidFill>
                <a:latin typeface="IBM Plex Sans" pitchFamily="34" charset="0"/>
                <a:ea typeface="IBM Plex Sans" pitchFamily="34" charset="-122"/>
                <a:cs typeface="IBM Plex Sans" pitchFamily="34" charset="-120"/>
              </a:rPr>
              <a:t>Split into tens and ones</a:t>
            </a:r>
            <a:endParaRPr lang="en-US" sz="1200" dirty="0"/>
          </a:p>
          <a:p>
            <a:pPr algn="l" marL="168910" indent="-168910">
              <a:lnSpc>
                <a:spcPts val="1680"/>
              </a:lnSpc>
              <a:buSzPct val="100000"/>
              <a:buFontTx/>
              <a:buAutoNum type="arabicPeriod" startAt="1"/>
            </a:pPr>
            <a:r>
              <a:rPr lang="en-US" sz="1200" dirty="0">
                <a:solidFill>
                  <a:srgbClr val="E6EDF7"/>
                </a:solidFill>
                <a:latin typeface="IBM Plex Sans" pitchFamily="34" charset="0"/>
                <a:ea typeface="IBM Plex Sans" pitchFamily="34" charset="-122"/>
                <a:cs typeface="IBM Plex Sans" pitchFamily="34" charset="-120"/>
              </a:rPr>
              <a:t>Lookup table gives segment pattern</a:t>
            </a:r>
            <a:endParaRPr lang="en-US" sz="1200" dirty="0"/>
          </a:p>
          <a:p>
            <a:pPr algn="l" marL="168910" indent="-168910">
              <a:lnSpc>
                <a:spcPts val="1680"/>
              </a:lnSpc>
              <a:buSzPct val="100000"/>
              <a:buFontTx/>
              <a:buAutoNum type="arabicPeriod" startAt="1"/>
            </a:pPr>
            <a:r>
              <a:rPr lang="en-US" sz="1200" dirty="0">
                <a:solidFill>
                  <a:srgbClr val="E6EDF7"/>
                </a:solidFill>
                <a:latin typeface="IBM Plex Sans" pitchFamily="34" charset="0"/>
                <a:ea typeface="IBM Plex Sans" pitchFamily="34" charset="-122"/>
                <a:cs typeface="IBM Plex Sans" pitchFamily="34" charset="-120"/>
              </a:rPr>
              <a:t>Multiplex both digits on PORT pins</a:t>
            </a:r>
            <a:endParaRPr lang="en-US" sz="1200" dirty="0"/>
          </a:p>
          <a:p>
            <a:pPr algn="l" marL="168910" indent="-168910">
              <a:lnSpc>
                <a:spcPts val="1680"/>
              </a:lnSpc>
              <a:buSzPct val="100000"/>
              <a:buFontTx/>
              <a:buAutoNum type="arabicPeriod" startAt="1"/>
            </a:pPr>
            <a:r>
              <a:rPr lang="en-US" sz="1200" dirty="0">
                <a:solidFill>
                  <a:srgbClr val="E6EDF7"/>
                </a:solidFill>
                <a:latin typeface="IBM Plex Sans" pitchFamily="34" charset="0"/>
                <a:ea typeface="IBM Plex Sans" pitchFamily="34" charset="-122"/>
                <a:cs typeface="IBM Plex Sans" pitchFamily="34" charset="-120"/>
              </a:rPr>
              <a:t>State drives LEDs and buzzer</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20360" y="1351281"/>
          <a:ext cx="5958840" cy="1320800"/>
        </p:xfrm>
        <a:graphic>
          <a:graphicData uri="http://schemas.openxmlformats.org/drawingml/2006/table">
            <a:tbl>
              <a:tblPr/>
              <a:tblGrid>
                <a:gridCol w="1668475"/>
                <a:gridCol w="2145182"/>
                <a:gridCol w="2145182"/>
              </a:tblGrid>
              <a:tr h="330200">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Type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Common cathode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E535C"/>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c>
                  <a:txBody>
                    <a:bodyPr/>
                    <a:lstStyle/>
                    <a:p>
                      <a:pPr indent="0" marL="0">
                        <a:lnSpc>
                          <a:spcPts val="1680"/>
                        </a:lnSpc>
                        <a:buNone/>
                      </a:pPr>
                      <a:r>
                        <a:rPr lang="en-US" sz="1200" b="1" dirty="0">
                          <a:solidFill>
                            <a:srgbClr val="22D3EE"/>
                          </a:solidFill>
                          <a:latin typeface="IBM Plex Sans" pitchFamily="34" charset="0"/>
                          <a:ea typeface="IBM Plex Sans" pitchFamily="34" charset="-122"/>
                          <a:cs typeface="IBM Plex Sans" pitchFamily="34" charset="-120"/>
                        </a:rPr>
                        <a:t>Common anode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E535C"/>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Common pin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GND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+5 V</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Segment 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drive HIGH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drive 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Digit 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0x3F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680"/>
                        </a:lnSpc>
                        <a:buNone/>
                      </a:pPr>
                      <a:r>
                        <a:rPr lang="en-US" sz="1200" dirty="0">
                          <a:solidFill>
                            <a:srgbClr val="E6EDF7"/>
                          </a:solidFill>
                          <a:latin typeface="IBM Plex Sans" pitchFamily="34" charset="0"/>
                          <a:ea typeface="IBM Plex Sans" pitchFamily="34" charset="-122"/>
                          <a:cs typeface="IBM Plex Sans" pitchFamily="34" charset="-120"/>
                        </a:rPr>
                        <a:t>0xC0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bl>
          </a:graphicData>
        </a:graphic>
      </p:graphicFrame>
      <p:sp>
        <p:nvSpPr>
          <p:cNvPr id="12" name="Shape 8"/>
          <p:cNvSpPr/>
          <p:nvPr/>
        </p:nvSpPr>
        <p:spPr>
          <a:xfrm>
            <a:off x="5413375" y="2827657"/>
            <a:ext cx="5962650" cy="1131570"/>
          </a:xfrm>
          <a:prstGeom prst="roundRect">
            <a:avLst>
              <a:gd name="adj" fmla="val 8698"/>
            </a:avLst>
          </a:prstGeom>
          <a:solidFill>
            <a:srgbClr val="131C2E"/>
          </a:solidFill>
          <a:ln w="6350">
            <a:solidFill>
              <a:srgbClr val="24324A"/>
            </a:solidFill>
            <a:prstDash val="solid"/>
          </a:ln>
        </p:spPr>
      </p:sp>
      <p:sp>
        <p:nvSpPr>
          <p:cNvPr id="13" name="Text 9"/>
          <p:cNvSpPr/>
          <p:nvPr/>
        </p:nvSpPr>
        <p:spPr>
          <a:xfrm>
            <a:off x="5593080" y="2981961"/>
            <a:ext cx="577133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8"/>
                </a:solidFill>
                <a:latin typeface="IBM Plex Sans" pitchFamily="34" charset="0"/>
                <a:ea typeface="IBM Plex Sans" pitchFamily="34" charset="-122"/>
                <a:cs typeface="IBM Plex Sans" pitchFamily="34" charset="-120"/>
              </a:rPr>
              <a:t>Lookup table, common cathode, bits gfedcba</a:t>
            </a:r>
            <a:endParaRPr lang="en-US" sz="1200" dirty="0"/>
          </a:p>
        </p:txBody>
      </p:sp>
      <p:sp>
        <p:nvSpPr>
          <p:cNvPr id="14" name="Text 10"/>
          <p:cNvSpPr/>
          <p:nvPr/>
        </p:nvSpPr>
        <p:spPr>
          <a:xfrm>
            <a:off x="5593080" y="3233421"/>
            <a:ext cx="5771337"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6EDF7"/>
                </a:solidFill>
                <a:latin typeface="JetBrains Mono" pitchFamily="49" charset="0"/>
                <a:ea typeface="JetBrains Mono" pitchFamily="49" charset="-122"/>
                <a:cs typeface="JetBrains Mono" pitchFamily="49" charset="-120"/>
              </a:rPr>
              <a:t>0:3F 1:06 2:5B 3:4F 4:66</a:t>
            </a:r>
            <a:endParaRPr lang="en-US" sz="1400" dirty="0"/>
          </a:p>
        </p:txBody>
      </p:sp>
      <p:sp>
        <p:nvSpPr>
          <p:cNvPr id="15" name="Text 11"/>
          <p:cNvSpPr/>
          <p:nvPr/>
        </p:nvSpPr>
        <p:spPr>
          <a:xfrm>
            <a:off x="5593080" y="3538221"/>
            <a:ext cx="5771337"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6EDF7"/>
                </a:solidFill>
                <a:latin typeface="JetBrains Mono" pitchFamily="49" charset="0"/>
                <a:ea typeface="JetBrains Mono" pitchFamily="49" charset="-122"/>
                <a:cs typeface="JetBrains Mono" pitchFamily="49" charset="-120"/>
              </a:rPr>
              <a:t>5:6D 6:7D 7:07 8:7F 9:6F</a:t>
            </a:r>
            <a:endParaRPr lang="en-US" sz="1400" dirty="0"/>
          </a:p>
        </p:txBody>
      </p:sp>
      <p:sp>
        <p:nvSpPr>
          <p:cNvPr id="16" name="Shape 12"/>
          <p:cNvSpPr/>
          <p:nvPr/>
        </p:nvSpPr>
        <p:spPr>
          <a:xfrm>
            <a:off x="5413375" y="4117975"/>
            <a:ext cx="5962650" cy="1426210"/>
          </a:xfrm>
          <a:prstGeom prst="roundRect">
            <a:avLst>
              <a:gd name="adj" fmla="val 6901"/>
            </a:avLst>
          </a:prstGeom>
          <a:solidFill>
            <a:srgbClr val="131C2E"/>
          </a:solidFill>
          <a:ln w="6350">
            <a:solidFill>
              <a:srgbClr val="24324A"/>
            </a:solidFill>
            <a:prstDash val="solid"/>
          </a:ln>
        </p:spPr>
      </p:sp>
      <p:sp>
        <p:nvSpPr>
          <p:cNvPr id="17" name="Text 13"/>
          <p:cNvSpPr/>
          <p:nvPr/>
        </p:nvSpPr>
        <p:spPr>
          <a:xfrm>
            <a:off x="5593080" y="4272279"/>
            <a:ext cx="577133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2D3EE"/>
                </a:solidFill>
                <a:latin typeface="IBM Plex Sans" pitchFamily="34" charset="0"/>
                <a:ea typeface="IBM Plex Sans" pitchFamily="34" charset="-122"/>
                <a:cs typeface="IBM Plex Sans" pitchFamily="34" charset="-120"/>
              </a:rPr>
              <a:t>Multiplexing and flicker</a:t>
            </a:r>
            <a:endParaRPr lang="en-US" sz="1400" dirty="0"/>
          </a:p>
        </p:txBody>
      </p:sp>
      <p:sp>
        <p:nvSpPr>
          <p:cNvPr id="18" name="Text 14"/>
          <p:cNvSpPr/>
          <p:nvPr/>
        </p:nvSpPr>
        <p:spPr>
          <a:xfrm>
            <a:off x="5691886" y="4536442"/>
            <a:ext cx="5664911" cy="87884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E6EDF7"/>
                </a:solidFill>
                <a:latin typeface="IBM Plex Sans" pitchFamily="34" charset="0"/>
                <a:ea typeface="IBM Plex Sans" pitchFamily="34" charset="-122"/>
                <a:cs typeface="IBM Plex Sans" pitchFamily="34" charset="-120"/>
              </a:rPr>
              <a:t>Digits off, load segments, enable one digit</a:t>
            </a:r>
            <a:endParaRPr lang="en-US" sz="1200" dirty="0"/>
          </a:p>
          <a:p>
            <a:pPr algn="l" marL="155194" indent="-155194">
              <a:lnSpc>
                <a:spcPts val="1680"/>
              </a:lnSpc>
              <a:buSzPct val="100000"/>
              <a:buChar char="•"/>
            </a:pPr>
            <a:r>
              <a:rPr lang="en-US" sz="1200" dirty="0">
                <a:solidFill>
                  <a:srgbClr val="E6EDF7"/>
                </a:solidFill>
                <a:latin typeface="IBM Plex Sans" pitchFamily="34" charset="0"/>
                <a:ea typeface="IBM Plex Sans" pitchFamily="34" charset="-122"/>
                <a:cs typeface="IBM Plex Sans" pitchFamily="34" charset="-120"/>
              </a:rPr>
              <a:t>Wait about 2–5 ms, then swap digits (≈100 Hz)</a:t>
            </a:r>
            <a:endParaRPr lang="en-US" sz="1200" dirty="0"/>
          </a:p>
          <a:p>
            <a:pPr algn="l" marL="155194" indent="-155194">
              <a:lnSpc>
                <a:spcPts val="1680"/>
              </a:lnSpc>
              <a:buSzPct val="100000"/>
              <a:buChar char="•"/>
            </a:pPr>
            <a:r>
              <a:rPr lang="en-US" sz="1200" dirty="0">
                <a:solidFill>
                  <a:srgbClr val="E6EDF7"/>
                </a:solidFill>
                <a:latin typeface="IBM Plex Sans" pitchFamily="34" charset="0"/>
                <a:ea typeface="IBM Plex Sans" pitchFamily="34" charset="-122"/>
                <a:cs typeface="IBM Plex Sans" pitchFamily="34" charset="-120"/>
              </a:rPr>
              <a:t>Long blocking delays elsewhere cause flicker</a:t>
            </a:r>
            <a:endParaRPr lang="en-US" sz="1200" dirty="0"/>
          </a:p>
          <a:p>
            <a:pPr algn="l" marL="155194" indent="-155194">
              <a:lnSpc>
                <a:spcPts val="1680"/>
              </a:lnSpc>
              <a:buSzPct val="100000"/>
              <a:buChar char="•"/>
            </a:pPr>
            <a:r>
              <a:rPr lang="en-US" sz="1200" dirty="0">
                <a:solidFill>
                  <a:srgbClr val="E6EDF7"/>
                </a:solidFill>
                <a:latin typeface="IBM Plex Sans" pitchFamily="34" charset="0"/>
                <a:ea typeface="IBM Plex Sans" pitchFamily="34" charset="-122"/>
                <a:cs typeface="IBM Plex Sans" pitchFamily="34" charset="-120"/>
              </a:rPr>
              <a:t>LED via gpio_write(); buzzer via GPIO or PWM (D5)</a:t>
            </a:r>
            <a:endParaRPr lang="en-US" sz="1200" dirty="0"/>
          </a:p>
        </p:txBody>
      </p:sp>
      <p:sp>
        <p:nvSpPr>
          <p:cNvPr id="19"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A6"/>
                </a:solidFill>
                <a:latin typeface="IBM Plex Sans" pitchFamily="34" charset="0"/>
                <a:ea typeface="IBM Plex Sans" pitchFamily="34" charset="-122"/>
                <a:cs typeface="IBM Plex Sans" pitchFamily="34" charset="-120"/>
              </a:rPr>
              <a:t>Smart Parking Assist · ATmega2560 bare-metal drivers · 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812800" y="457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2D3EE"/>
                </a:solidFill>
                <a:latin typeface="JetBrains Mono" pitchFamily="49" charset="0"/>
                <a:ea typeface="JetBrains Mono" pitchFamily="49" charset="-122"/>
                <a:cs typeface="JetBrains Mono" pitchFamily="49" charset="-120"/>
              </a:rPr>
              <a:t>10 · CONCLUSION, FUTURE SCOPE AND VIVA</a:t>
            </a:r>
            <a:endParaRPr lang="en-US" sz="1200" dirty="0"/>
          </a:p>
        </p:txBody>
      </p:sp>
      <p:sp>
        <p:nvSpPr>
          <p:cNvPr id="3" name="Text 1"/>
          <p:cNvSpPr/>
          <p:nvPr>
            <p:ph type="title"/>
          </p:nvPr>
        </p:nvSpPr>
        <p:spPr>
          <a:xfrm>
            <a:off x="812800" y="721364"/>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6EDF7"/>
                </a:solidFill>
                <a:latin typeface="IBM Plex Sans" pitchFamily="34" charset="0"/>
                <a:ea typeface="IBM Plex Sans" pitchFamily="34" charset="-122"/>
                <a:cs typeface="IBM Plex Sans" pitchFamily="34" charset="-120"/>
              </a:rPr>
              <a:t>What We Built and Learned</a:t>
            </a:r>
            <a:endParaRPr lang="en-US" sz="2800" dirty="0"/>
          </a:p>
        </p:txBody>
      </p:sp>
      <p:sp>
        <p:nvSpPr>
          <p:cNvPr id="4" name="Text 2"/>
          <p:cNvSpPr/>
          <p:nvPr/>
        </p:nvSpPr>
        <p:spPr>
          <a:xfrm>
            <a:off x="812800" y="1264921"/>
            <a:ext cx="3471307" cy="367030"/>
          </a:xfrm>
          <a:prstGeom prst="roundRect">
            <a:avLst>
              <a:gd name="adj" fmla="val 17301"/>
            </a:avLst>
          </a:prstGeom>
          <a:solidFill>
            <a:srgbClr val="131C2E"/>
          </a:solidFill>
          <a:ln/>
        </p:spPr>
        <p:txBody>
          <a:bodyPr wrap="square" lIns="138881" tIns="57601" rIns="12797" bIns="32201" rtlCol="0" anchor="t">
            <a:normAutofit/>
          </a:bodyPr>
          <a:lstStyle/>
          <a:p>
            <a:pPr algn="l" indent="0" marL="0">
              <a:lnSpc>
                <a:spcPts val="1690"/>
              </a:lnSpc>
              <a:buNone/>
            </a:pPr>
            <a:r>
              <a:rPr lang="en-US" sz="1300" b="1" dirty="0">
                <a:solidFill>
                  <a:srgbClr val="E6EDF7"/>
                </a:solidFill>
                <a:latin typeface="IBM Plex Sans" pitchFamily="34" charset="0"/>
                <a:ea typeface="IBM Plex Sans" pitchFamily="34" charset="-122"/>
                <a:cs typeface="IBM Plex Sans" pitchFamily="34" charset="-120"/>
              </a:rPr>
              <a:t>Bare-metal drivers</a:t>
            </a:r>
            <a:endParaRPr lang="en-US" sz="1300" dirty="0"/>
          </a:p>
        </p:txBody>
      </p:sp>
      <p:sp>
        <p:nvSpPr>
          <p:cNvPr id="5" name="Shape 3"/>
          <p:cNvSpPr/>
          <p:nvPr/>
        </p:nvSpPr>
        <p:spPr>
          <a:xfrm>
            <a:off x="812800" y="1264921"/>
            <a:ext cx="3471307" cy="367030"/>
          </a:xfrm>
          <a:custGeom>
            <a:avLst/>
            <a:gdLst/>
            <a:ahLst/>
            <a:cxnLst/>
            <a:rect l="l" t="t" r="r" b="b"/>
            <a:pathLst>
              <a:path w="3471307" h="367030">
                <a:moveTo>
                  <a:pt x="63500" y="367030"/>
                </a:moveTo>
                <a:lnTo>
                  <a:pt x="63500" y="367030"/>
                </a:lnTo>
                <a:arcTo hR="63500" wR="63500" stAng="5400000" swAng="5400000"/>
                <a:lnTo>
                  <a:pt x="0" y="63500"/>
                </a:lnTo>
                <a:arcTo hR="63500" wR="63500" stAng="10800000" swAng="5400000"/>
                <a:lnTo>
                  <a:pt x="63500" y="0"/>
                </a:lnTo>
                <a:arcTo hR="63500" wR="31750" stAng="16200000" swAng="-5400000"/>
                <a:lnTo>
                  <a:pt x="31750" y="303530"/>
                </a:lnTo>
                <a:arcTo hR="63500" wR="31750" stAng="10800000" swAng="-5400000"/>
                <a:close/>
              </a:path>
            </a:pathLst>
          </a:custGeom>
          <a:solidFill>
            <a:srgbClr val="4ADE80"/>
          </a:solidFill>
          <a:ln/>
        </p:spPr>
      </p:sp>
      <p:sp>
        <p:nvSpPr>
          <p:cNvPr id="6" name="Text 4"/>
          <p:cNvSpPr/>
          <p:nvPr/>
        </p:nvSpPr>
        <p:spPr>
          <a:xfrm>
            <a:off x="4360307" y="1264921"/>
            <a:ext cx="3471307" cy="367030"/>
          </a:xfrm>
          <a:prstGeom prst="roundRect">
            <a:avLst>
              <a:gd name="adj" fmla="val 17301"/>
            </a:avLst>
          </a:prstGeom>
          <a:solidFill>
            <a:srgbClr val="131C2E"/>
          </a:solidFill>
          <a:ln/>
        </p:spPr>
        <p:txBody>
          <a:bodyPr wrap="square" lIns="138881" tIns="57601" rIns="12797" bIns="32201" rtlCol="0" anchor="t">
            <a:normAutofit/>
          </a:bodyPr>
          <a:lstStyle/>
          <a:p>
            <a:pPr algn="l" indent="0" marL="0">
              <a:lnSpc>
                <a:spcPts val="1690"/>
              </a:lnSpc>
              <a:buNone/>
            </a:pPr>
            <a:r>
              <a:rPr lang="en-US" sz="1300" b="1" dirty="0">
                <a:solidFill>
                  <a:srgbClr val="E6EDF7"/>
                </a:solidFill>
                <a:latin typeface="IBM Plex Sans" pitchFamily="34" charset="0"/>
                <a:ea typeface="IBM Plex Sans" pitchFamily="34" charset="-122"/>
                <a:cs typeface="IBM Plex Sans" pitchFamily="34" charset="-120"/>
              </a:rPr>
              <a:t>Direct register control</a:t>
            </a:r>
            <a:endParaRPr lang="en-US" sz="1300" dirty="0"/>
          </a:p>
        </p:txBody>
      </p:sp>
      <p:sp>
        <p:nvSpPr>
          <p:cNvPr id="7" name="Shape 5"/>
          <p:cNvSpPr/>
          <p:nvPr/>
        </p:nvSpPr>
        <p:spPr>
          <a:xfrm>
            <a:off x="4360307" y="1264921"/>
            <a:ext cx="3471307" cy="367030"/>
          </a:xfrm>
          <a:custGeom>
            <a:avLst/>
            <a:gdLst/>
            <a:ahLst/>
            <a:cxnLst/>
            <a:rect l="l" t="t" r="r" b="b"/>
            <a:pathLst>
              <a:path w="3471307" h="367030">
                <a:moveTo>
                  <a:pt x="63500" y="367030"/>
                </a:moveTo>
                <a:lnTo>
                  <a:pt x="63500" y="367030"/>
                </a:lnTo>
                <a:arcTo hR="63500" wR="63500" stAng="5400000" swAng="5400000"/>
                <a:lnTo>
                  <a:pt x="0" y="63500"/>
                </a:lnTo>
                <a:arcTo hR="63500" wR="63500" stAng="10800000" swAng="5400000"/>
                <a:lnTo>
                  <a:pt x="63500" y="0"/>
                </a:lnTo>
                <a:arcTo hR="63500" wR="31750" stAng="16200000" swAng="-5400000"/>
                <a:lnTo>
                  <a:pt x="31750" y="303530"/>
                </a:lnTo>
                <a:arcTo hR="63500" wR="31750" stAng="10800000" swAng="-5400000"/>
                <a:close/>
              </a:path>
            </a:pathLst>
          </a:custGeom>
          <a:solidFill>
            <a:srgbClr val="4ADE80"/>
          </a:solidFill>
          <a:ln/>
        </p:spPr>
      </p:sp>
      <p:sp>
        <p:nvSpPr>
          <p:cNvPr id="8" name="Text 6"/>
          <p:cNvSpPr/>
          <p:nvPr/>
        </p:nvSpPr>
        <p:spPr>
          <a:xfrm>
            <a:off x="7907814" y="1264921"/>
            <a:ext cx="3471307" cy="367030"/>
          </a:xfrm>
          <a:prstGeom prst="roundRect">
            <a:avLst>
              <a:gd name="adj" fmla="val 17301"/>
            </a:avLst>
          </a:prstGeom>
          <a:solidFill>
            <a:srgbClr val="131C2E"/>
          </a:solidFill>
          <a:ln/>
        </p:spPr>
        <p:txBody>
          <a:bodyPr wrap="square" lIns="138881" tIns="57601" rIns="12797" bIns="32201" rtlCol="0" anchor="t">
            <a:normAutofit/>
          </a:bodyPr>
          <a:lstStyle/>
          <a:p>
            <a:pPr algn="l" indent="0" marL="0">
              <a:lnSpc>
                <a:spcPts val="1690"/>
              </a:lnSpc>
              <a:buNone/>
            </a:pPr>
            <a:r>
              <a:rPr lang="en-US" sz="1300" b="1" dirty="0">
                <a:solidFill>
                  <a:srgbClr val="E6EDF7"/>
                </a:solidFill>
                <a:latin typeface="IBM Plex Sans" pitchFamily="34" charset="0"/>
                <a:ea typeface="IBM Plex Sans" pitchFamily="34" charset="-122"/>
                <a:cs typeface="IBM Plex Sans" pitchFamily="34" charset="-120"/>
              </a:rPr>
              <a:t>Timer and PWM maths</a:t>
            </a:r>
            <a:endParaRPr lang="en-US" sz="1300" dirty="0"/>
          </a:p>
        </p:txBody>
      </p:sp>
      <p:sp>
        <p:nvSpPr>
          <p:cNvPr id="9" name="Shape 7"/>
          <p:cNvSpPr/>
          <p:nvPr/>
        </p:nvSpPr>
        <p:spPr>
          <a:xfrm>
            <a:off x="7907814" y="1264921"/>
            <a:ext cx="3471307" cy="367030"/>
          </a:xfrm>
          <a:custGeom>
            <a:avLst/>
            <a:gdLst/>
            <a:ahLst/>
            <a:cxnLst/>
            <a:rect l="l" t="t" r="r" b="b"/>
            <a:pathLst>
              <a:path w="3471307" h="367030">
                <a:moveTo>
                  <a:pt x="63500" y="367030"/>
                </a:moveTo>
                <a:lnTo>
                  <a:pt x="63500" y="367030"/>
                </a:lnTo>
                <a:arcTo hR="63500" wR="63500" stAng="5400000" swAng="5400000"/>
                <a:lnTo>
                  <a:pt x="0" y="63500"/>
                </a:lnTo>
                <a:arcTo hR="63500" wR="63500" stAng="10800000" swAng="5400000"/>
                <a:lnTo>
                  <a:pt x="63500" y="0"/>
                </a:lnTo>
                <a:arcTo hR="63500" wR="31750" stAng="16200000" swAng="-5400000"/>
                <a:lnTo>
                  <a:pt x="31750" y="303530"/>
                </a:lnTo>
                <a:arcTo hR="63500" wR="31750" stAng="10800000" swAng="-5400000"/>
                <a:close/>
              </a:path>
            </a:pathLst>
          </a:custGeom>
          <a:solidFill>
            <a:srgbClr val="4ADE80"/>
          </a:solidFill>
          <a:ln/>
        </p:spPr>
      </p:sp>
      <p:sp>
        <p:nvSpPr>
          <p:cNvPr id="10" name="Text 8"/>
          <p:cNvSpPr/>
          <p:nvPr/>
        </p:nvSpPr>
        <p:spPr>
          <a:xfrm>
            <a:off x="812800" y="1708150"/>
            <a:ext cx="3471307" cy="367030"/>
          </a:xfrm>
          <a:prstGeom prst="roundRect">
            <a:avLst>
              <a:gd name="adj" fmla="val 17301"/>
            </a:avLst>
          </a:prstGeom>
          <a:solidFill>
            <a:srgbClr val="131C2E"/>
          </a:solidFill>
          <a:ln/>
        </p:spPr>
        <p:txBody>
          <a:bodyPr wrap="square" lIns="138881" tIns="57601" rIns="12797" bIns="32201" rtlCol="0" anchor="t">
            <a:normAutofit/>
          </a:bodyPr>
          <a:lstStyle/>
          <a:p>
            <a:pPr algn="l" indent="0" marL="0">
              <a:lnSpc>
                <a:spcPts val="1690"/>
              </a:lnSpc>
              <a:buNone/>
            </a:pPr>
            <a:r>
              <a:rPr lang="en-US" sz="1300" b="1" dirty="0">
                <a:solidFill>
                  <a:srgbClr val="E6EDF7"/>
                </a:solidFill>
                <a:latin typeface="IBM Plex Sans" pitchFamily="34" charset="0"/>
                <a:ea typeface="IBM Plex Sans" pitchFamily="34" charset="-122"/>
                <a:cs typeface="IBM Plex Sans" pitchFamily="34" charset="-120"/>
              </a:rPr>
              <a:t>Sensor integration</a:t>
            </a:r>
            <a:endParaRPr lang="en-US" sz="1300" dirty="0"/>
          </a:p>
        </p:txBody>
      </p:sp>
      <p:sp>
        <p:nvSpPr>
          <p:cNvPr id="11" name="Shape 9"/>
          <p:cNvSpPr/>
          <p:nvPr/>
        </p:nvSpPr>
        <p:spPr>
          <a:xfrm>
            <a:off x="812800" y="1708150"/>
            <a:ext cx="3471307" cy="367030"/>
          </a:xfrm>
          <a:custGeom>
            <a:avLst/>
            <a:gdLst/>
            <a:ahLst/>
            <a:cxnLst/>
            <a:rect l="l" t="t" r="r" b="b"/>
            <a:pathLst>
              <a:path w="3471307" h="367030">
                <a:moveTo>
                  <a:pt x="63500" y="367030"/>
                </a:moveTo>
                <a:lnTo>
                  <a:pt x="63500" y="367030"/>
                </a:lnTo>
                <a:arcTo hR="63500" wR="63500" stAng="5400000" swAng="5400000"/>
                <a:lnTo>
                  <a:pt x="0" y="63500"/>
                </a:lnTo>
                <a:arcTo hR="63500" wR="63500" stAng="10800000" swAng="5400000"/>
                <a:lnTo>
                  <a:pt x="63500" y="0"/>
                </a:lnTo>
                <a:arcTo hR="63500" wR="31750" stAng="16200000" swAng="-5400000"/>
                <a:lnTo>
                  <a:pt x="31750" y="303530"/>
                </a:lnTo>
                <a:arcTo hR="63500" wR="31750" stAng="10800000" swAng="-5400000"/>
                <a:close/>
              </a:path>
            </a:pathLst>
          </a:custGeom>
          <a:solidFill>
            <a:srgbClr val="4ADE80"/>
          </a:solidFill>
          <a:ln/>
        </p:spPr>
      </p:sp>
      <p:sp>
        <p:nvSpPr>
          <p:cNvPr id="12" name="Text 10"/>
          <p:cNvSpPr/>
          <p:nvPr/>
        </p:nvSpPr>
        <p:spPr>
          <a:xfrm>
            <a:off x="4360307" y="1708150"/>
            <a:ext cx="3471307" cy="367030"/>
          </a:xfrm>
          <a:prstGeom prst="roundRect">
            <a:avLst>
              <a:gd name="adj" fmla="val 17301"/>
            </a:avLst>
          </a:prstGeom>
          <a:solidFill>
            <a:srgbClr val="131C2E"/>
          </a:solidFill>
          <a:ln/>
        </p:spPr>
        <p:txBody>
          <a:bodyPr wrap="square" lIns="138881" tIns="57601" rIns="12797" bIns="32201" rtlCol="0" anchor="t">
            <a:normAutofit/>
          </a:bodyPr>
          <a:lstStyle/>
          <a:p>
            <a:pPr algn="l" indent="0" marL="0">
              <a:lnSpc>
                <a:spcPts val="1690"/>
              </a:lnSpc>
              <a:buNone/>
            </a:pPr>
            <a:r>
              <a:rPr lang="en-US" sz="1300" b="1" dirty="0">
                <a:solidFill>
                  <a:srgbClr val="E6EDF7"/>
                </a:solidFill>
                <a:latin typeface="IBM Plex Sans" pitchFamily="34" charset="0"/>
                <a:ea typeface="IBM Plex Sans" pitchFamily="34" charset="-122"/>
                <a:cs typeface="IBM Plex Sans" pitchFamily="34" charset="-120"/>
              </a:rPr>
              <a:t>Modular C, .c and .h</a:t>
            </a:r>
            <a:endParaRPr lang="en-US" sz="1300" dirty="0"/>
          </a:p>
        </p:txBody>
      </p:sp>
      <p:sp>
        <p:nvSpPr>
          <p:cNvPr id="13" name="Shape 11"/>
          <p:cNvSpPr/>
          <p:nvPr/>
        </p:nvSpPr>
        <p:spPr>
          <a:xfrm>
            <a:off x="4360307" y="1708150"/>
            <a:ext cx="3471307" cy="367030"/>
          </a:xfrm>
          <a:custGeom>
            <a:avLst/>
            <a:gdLst/>
            <a:ahLst/>
            <a:cxnLst/>
            <a:rect l="l" t="t" r="r" b="b"/>
            <a:pathLst>
              <a:path w="3471307" h="367030">
                <a:moveTo>
                  <a:pt x="63500" y="367030"/>
                </a:moveTo>
                <a:lnTo>
                  <a:pt x="63500" y="367030"/>
                </a:lnTo>
                <a:arcTo hR="63500" wR="63500" stAng="5400000" swAng="5400000"/>
                <a:lnTo>
                  <a:pt x="0" y="63500"/>
                </a:lnTo>
                <a:arcTo hR="63500" wR="63500" stAng="10800000" swAng="5400000"/>
                <a:lnTo>
                  <a:pt x="63500" y="0"/>
                </a:lnTo>
                <a:arcTo hR="63500" wR="31750" stAng="16200000" swAng="-5400000"/>
                <a:lnTo>
                  <a:pt x="31750" y="303530"/>
                </a:lnTo>
                <a:arcTo hR="63500" wR="31750" stAng="10800000" swAng="-5400000"/>
                <a:close/>
              </a:path>
            </a:pathLst>
          </a:custGeom>
          <a:solidFill>
            <a:srgbClr val="4ADE80"/>
          </a:solidFill>
          <a:ln/>
        </p:spPr>
      </p:sp>
      <p:sp>
        <p:nvSpPr>
          <p:cNvPr id="14" name="Text 12"/>
          <p:cNvSpPr/>
          <p:nvPr/>
        </p:nvSpPr>
        <p:spPr>
          <a:xfrm>
            <a:off x="7907814" y="1708150"/>
            <a:ext cx="3471307" cy="367030"/>
          </a:xfrm>
          <a:prstGeom prst="roundRect">
            <a:avLst>
              <a:gd name="adj" fmla="val 17301"/>
            </a:avLst>
          </a:prstGeom>
          <a:solidFill>
            <a:srgbClr val="131C2E"/>
          </a:solidFill>
          <a:ln/>
        </p:spPr>
        <p:txBody>
          <a:bodyPr wrap="square" lIns="138881" tIns="57601" rIns="12797" bIns="32201" rtlCol="0" anchor="t">
            <a:normAutofit/>
          </a:bodyPr>
          <a:lstStyle/>
          <a:p>
            <a:pPr algn="l" indent="0" marL="0">
              <a:lnSpc>
                <a:spcPts val="1690"/>
              </a:lnSpc>
              <a:buNone/>
            </a:pPr>
            <a:r>
              <a:rPr lang="en-US" sz="1300" b="1" dirty="0">
                <a:solidFill>
                  <a:srgbClr val="E6EDF7"/>
                </a:solidFill>
                <a:latin typeface="IBM Plex Sans" pitchFamily="34" charset="0"/>
                <a:ea typeface="IBM Plex Sans" pitchFamily="34" charset="-122"/>
                <a:cs typeface="IBM Plex Sans" pitchFamily="34" charset="-120"/>
              </a:rPr>
              <a:t>Datasheet-first debugging</a:t>
            </a:r>
            <a:endParaRPr lang="en-US" sz="1300" dirty="0"/>
          </a:p>
        </p:txBody>
      </p:sp>
      <p:sp>
        <p:nvSpPr>
          <p:cNvPr id="15" name="Shape 13"/>
          <p:cNvSpPr/>
          <p:nvPr/>
        </p:nvSpPr>
        <p:spPr>
          <a:xfrm>
            <a:off x="7907814" y="1708150"/>
            <a:ext cx="3471307" cy="367030"/>
          </a:xfrm>
          <a:custGeom>
            <a:avLst/>
            <a:gdLst/>
            <a:ahLst/>
            <a:cxnLst/>
            <a:rect l="l" t="t" r="r" b="b"/>
            <a:pathLst>
              <a:path w="3471307" h="367030">
                <a:moveTo>
                  <a:pt x="63500" y="367030"/>
                </a:moveTo>
                <a:lnTo>
                  <a:pt x="63500" y="367030"/>
                </a:lnTo>
                <a:arcTo hR="63500" wR="63500" stAng="5400000" swAng="5400000"/>
                <a:lnTo>
                  <a:pt x="0" y="63500"/>
                </a:lnTo>
                <a:arcTo hR="63500" wR="63500" stAng="10800000" swAng="5400000"/>
                <a:lnTo>
                  <a:pt x="63500" y="0"/>
                </a:lnTo>
                <a:arcTo hR="63500" wR="31750" stAng="16200000" swAng="-5400000"/>
                <a:lnTo>
                  <a:pt x="31750" y="303530"/>
                </a:lnTo>
                <a:arcTo hR="63500" wR="31750" stAng="10800000" swAng="-5400000"/>
                <a:close/>
              </a:path>
            </a:pathLst>
          </a:custGeom>
          <a:solidFill>
            <a:srgbClr val="4ADE80"/>
          </a:solidFill>
          <a:ln/>
        </p:spPr>
      </p:sp>
      <p:sp>
        <p:nvSpPr>
          <p:cNvPr id="16" name="Text 14"/>
          <p:cNvSpPr/>
          <p:nvPr/>
        </p:nvSpPr>
        <p:spPr>
          <a:xfrm>
            <a:off x="812800" y="22275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BBF24"/>
                </a:solidFill>
                <a:latin typeface="JetBrains Mono" pitchFamily="49" charset="0"/>
                <a:ea typeface="JetBrains Mono" pitchFamily="49" charset="-122"/>
                <a:cs typeface="JetBrains Mono" pitchFamily="49" charset="-120"/>
              </a:rPr>
              <a:t>FUTURE SCOPE</a:t>
            </a:r>
            <a:endParaRPr lang="en-US" sz="1200" dirty="0"/>
          </a:p>
        </p:txBody>
      </p:sp>
      <p:sp>
        <p:nvSpPr>
          <p:cNvPr id="17" name="Text 15"/>
          <p:cNvSpPr/>
          <p:nvPr/>
        </p:nvSpPr>
        <p:spPr>
          <a:xfrm>
            <a:off x="815975" y="2507617"/>
            <a:ext cx="3464957" cy="354330"/>
          </a:xfrm>
          <a:prstGeom prst="roundRect">
            <a:avLst>
              <a:gd name="adj" fmla="val 17025"/>
            </a:avLst>
          </a:prstGeom>
          <a:noFill/>
          <a:ln w="6350">
            <a:solidFill>
              <a:srgbClr val="FBBF24"/>
            </a:solidFill>
            <a:prstDash val="solid"/>
          </a:ln>
        </p:spPr>
        <p:txBody>
          <a:bodyPr wrap="square" lIns="111236" tIns="60436" rIns="15022" bIns="35036" rtlCol="0" anchor="t">
            <a:normAutofit/>
          </a:bodyPr>
          <a:lstStyle/>
          <a:p>
            <a:pPr algn="l" indent="0" marL="0">
              <a:lnSpc>
                <a:spcPts val="1560"/>
              </a:lnSpc>
              <a:buNone/>
            </a:pPr>
            <a:r>
              <a:rPr lang="en-US" sz="1200" dirty="0">
                <a:solidFill>
                  <a:srgbClr val="E6EDF7"/>
                </a:solidFill>
                <a:latin typeface="IBM Plex Sans" pitchFamily="34" charset="0"/>
                <a:ea typeface="IBM Plex Sans" pitchFamily="34" charset="-122"/>
                <a:cs typeface="IBM Plex Sans" pitchFamily="34" charset="-120"/>
              </a:rPr>
              <a:t>Sensor filtering (median / average)</a:t>
            </a:r>
            <a:endParaRPr lang="en-US" sz="1200" dirty="0"/>
          </a:p>
        </p:txBody>
      </p:sp>
      <p:sp>
        <p:nvSpPr>
          <p:cNvPr id="18" name="Text 16"/>
          <p:cNvSpPr/>
          <p:nvPr/>
        </p:nvSpPr>
        <p:spPr>
          <a:xfrm>
            <a:off x="4363482" y="2507617"/>
            <a:ext cx="3465036" cy="354330"/>
          </a:xfrm>
          <a:prstGeom prst="roundRect">
            <a:avLst>
              <a:gd name="adj" fmla="val 17025"/>
            </a:avLst>
          </a:prstGeom>
          <a:noFill/>
          <a:ln w="6350">
            <a:solidFill>
              <a:srgbClr val="FBBF24"/>
            </a:solidFill>
            <a:prstDash val="solid"/>
          </a:ln>
        </p:spPr>
        <p:txBody>
          <a:bodyPr wrap="square" lIns="111236" tIns="60436" rIns="15020" bIns="35036" rtlCol="0" anchor="t">
            <a:normAutofit/>
          </a:bodyPr>
          <a:lstStyle/>
          <a:p>
            <a:pPr algn="l" indent="0" marL="0">
              <a:lnSpc>
                <a:spcPts val="1560"/>
              </a:lnSpc>
              <a:buNone/>
            </a:pPr>
            <a:r>
              <a:rPr lang="en-US" sz="1200" dirty="0">
                <a:solidFill>
                  <a:srgbClr val="E6EDF7"/>
                </a:solidFill>
                <a:latin typeface="IBM Plex Sans" pitchFamily="34" charset="0"/>
                <a:ea typeface="IBM Plex Sans" pitchFamily="34" charset="-122"/>
                <a:cs typeface="IBM Plex Sans" pitchFamily="34" charset="-120"/>
              </a:rPr>
              <a:t>Non-blocking display refresh (ISR)</a:t>
            </a:r>
            <a:endParaRPr lang="en-US" sz="1200" dirty="0"/>
          </a:p>
        </p:txBody>
      </p:sp>
      <p:sp>
        <p:nvSpPr>
          <p:cNvPr id="19" name="Text 17"/>
          <p:cNvSpPr/>
          <p:nvPr/>
        </p:nvSpPr>
        <p:spPr>
          <a:xfrm>
            <a:off x="7911068" y="2507617"/>
            <a:ext cx="3464957" cy="354330"/>
          </a:xfrm>
          <a:prstGeom prst="roundRect">
            <a:avLst>
              <a:gd name="adj" fmla="val 17025"/>
            </a:avLst>
          </a:prstGeom>
          <a:noFill/>
          <a:ln w="6350">
            <a:solidFill>
              <a:srgbClr val="FBBF24"/>
            </a:solidFill>
            <a:prstDash val="solid"/>
          </a:ln>
        </p:spPr>
        <p:txBody>
          <a:bodyPr wrap="square" lIns="111236" tIns="60436" rIns="15022" bIns="35036" rtlCol="0" anchor="t">
            <a:normAutofit/>
          </a:bodyPr>
          <a:lstStyle/>
          <a:p>
            <a:pPr algn="l" indent="0" marL="0">
              <a:lnSpc>
                <a:spcPts val="1560"/>
              </a:lnSpc>
              <a:buNone/>
            </a:pPr>
            <a:r>
              <a:rPr lang="en-US" sz="1200" dirty="0">
                <a:solidFill>
                  <a:srgbClr val="E6EDF7"/>
                </a:solidFill>
                <a:latin typeface="IBM Plex Sans" pitchFamily="34" charset="0"/>
                <a:ea typeface="IBM Plex Sans" pitchFamily="34" charset="-122"/>
                <a:cs typeface="IBM Plex Sans" pitchFamily="34" charset="-120"/>
              </a:rPr>
              <a:t>Multi-slot parking, more sensors</a:t>
            </a:r>
            <a:endParaRPr lang="en-US" sz="1200" dirty="0"/>
          </a:p>
        </p:txBody>
      </p:sp>
      <p:sp>
        <p:nvSpPr>
          <p:cNvPr id="20" name="Text 18"/>
          <p:cNvSpPr/>
          <p:nvPr/>
        </p:nvSpPr>
        <p:spPr>
          <a:xfrm>
            <a:off x="812800" y="30175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2D3EE"/>
                </a:solidFill>
                <a:latin typeface="JetBrains Mono" pitchFamily="49" charset="0"/>
                <a:ea typeface="JetBrains Mono" pitchFamily="49" charset="-122"/>
                <a:cs typeface="JetBrains Mono" pitchFamily="49" charset="-120"/>
              </a:rPr>
              <a:t>VIVA Q&amp;A</a:t>
            </a:r>
            <a:endParaRPr lang="en-US" sz="1200" dirty="0"/>
          </a:p>
        </p:txBody>
      </p:sp>
      <p:sp>
        <p:nvSpPr>
          <p:cNvPr id="21" name="Shape 19"/>
          <p:cNvSpPr/>
          <p:nvPr/>
        </p:nvSpPr>
        <p:spPr>
          <a:xfrm>
            <a:off x="815975" y="3297554"/>
            <a:ext cx="5238750" cy="628650"/>
          </a:xfrm>
          <a:prstGeom prst="roundRect">
            <a:avLst>
              <a:gd name="adj" fmla="val 11616"/>
            </a:avLst>
          </a:prstGeom>
          <a:solidFill>
            <a:srgbClr val="131C2E"/>
          </a:solidFill>
          <a:ln w="6350">
            <a:solidFill>
              <a:srgbClr val="24324A"/>
            </a:solidFill>
            <a:prstDash val="solid"/>
          </a:ln>
        </p:spPr>
      </p:sp>
      <p:sp>
        <p:nvSpPr>
          <p:cNvPr id="22" name="Text 20"/>
          <p:cNvSpPr/>
          <p:nvPr/>
        </p:nvSpPr>
        <p:spPr>
          <a:xfrm>
            <a:off x="944880" y="3401064"/>
            <a:ext cx="513036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22D3EE"/>
                </a:solidFill>
                <a:latin typeface="IBM Plex Sans" pitchFamily="34" charset="0"/>
                <a:ea typeface="IBM Plex Sans" pitchFamily="34" charset="-122"/>
                <a:cs typeface="IBM Plex Sans" pitchFamily="34" charset="-120"/>
              </a:rPr>
              <a:t>Why write registers directly?</a:t>
            </a:r>
            <a:endParaRPr lang="en-US" sz="1200" dirty="0"/>
          </a:p>
        </p:txBody>
      </p:sp>
      <p:sp>
        <p:nvSpPr>
          <p:cNvPr id="23" name="Text 21"/>
          <p:cNvSpPr/>
          <p:nvPr/>
        </p:nvSpPr>
        <p:spPr>
          <a:xfrm>
            <a:off x="944880" y="3624579"/>
            <a:ext cx="513036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DF7"/>
                </a:solidFill>
                <a:latin typeface="IBM Plex Sans" pitchFamily="34" charset="0"/>
                <a:ea typeface="IBM Plex Sans" pitchFamily="34" charset="-122"/>
                <a:cs typeface="IBM Plex Sans" pitchFamily="34" charset="-120"/>
              </a:rPr>
              <a:t>Full control, smaller code, no hidden delays.</a:t>
            </a:r>
            <a:endParaRPr lang="en-US" sz="1200" dirty="0"/>
          </a:p>
        </p:txBody>
      </p:sp>
      <p:sp>
        <p:nvSpPr>
          <p:cNvPr id="24" name="Shape 22"/>
          <p:cNvSpPr/>
          <p:nvPr/>
        </p:nvSpPr>
        <p:spPr>
          <a:xfrm>
            <a:off x="6137275" y="3297554"/>
            <a:ext cx="5238750" cy="628650"/>
          </a:xfrm>
          <a:prstGeom prst="roundRect">
            <a:avLst>
              <a:gd name="adj" fmla="val 11616"/>
            </a:avLst>
          </a:prstGeom>
          <a:solidFill>
            <a:srgbClr val="131C2E"/>
          </a:solidFill>
          <a:ln w="6350">
            <a:solidFill>
              <a:srgbClr val="24324A"/>
            </a:solidFill>
            <a:prstDash val="solid"/>
          </a:ln>
        </p:spPr>
      </p:sp>
      <p:sp>
        <p:nvSpPr>
          <p:cNvPr id="25" name="Text 23"/>
          <p:cNvSpPr/>
          <p:nvPr/>
        </p:nvSpPr>
        <p:spPr>
          <a:xfrm>
            <a:off x="6266180" y="3401064"/>
            <a:ext cx="513036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22D3EE"/>
                </a:solidFill>
                <a:latin typeface="IBM Plex Sans" pitchFamily="34" charset="0"/>
                <a:ea typeface="IBM Plex Sans" pitchFamily="34" charset="-122"/>
                <a:cs typeface="IBM Plex Sans" pitchFamily="34" charset="-120"/>
              </a:rPr>
              <a:t>What does DDRx do?</a:t>
            </a:r>
            <a:endParaRPr lang="en-US" sz="1200" dirty="0"/>
          </a:p>
        </p:txBody>
      </p:sp>
      <p:sp>
        <p:nvSpPr>
          <p:cNvPr id="26" name="Text 24"/>
          <p:cNvSpPr/>
          <p:nvPr/>
        </p:nvSpPr>
        <p:spPr>
          <a:xfrm>
            <a:off x="6266180" y="3624579"/>
            <a:ext cx="513036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DF7"/>
                </a:solidFill>
                <a:latin typeface="IBM Plex Sans" pitchFamily="34" charset="0"/>
                <a:ea typeface="IBM Plex Sans" pitchFamily="34" charset="-122"/>
                <a:cs typeface="IBM Plex Sans" pitchFamily="34" charset="-120"/>
              </a:rPr>
              <a:t>Sets each pin: 1 = output, 0 = input.</a:t>
            </a:r>
            <a:endParaRPr lang="en-US" sz="1200" dirty="0"/>
          </a:p>
        </p:txBody>
      </p:sp>
      <p:sp>
        <p:nvSpPr>
          <p:cNvPr id="27" name="Shape 25"/>
          <p:cNvSpPr/>
          <p:nvPr/>
        </p:nvSpPr>
        <p:spPr>
          <a:xfrm>
            <a:off x="815975" y="4008754"/>
            <a:ext cx="5238750" cy="628650"/>
          </a:xfrm>
          <a:prstGeom prst="roundRect">
            <a:avLst>
              <a:gd name="adj" fmla="val 11616"/>
            </a:avLst>
          </a:prstGeom>
          <a:solidFill>
            <a:srgbClr val="131C2E"/>
          </a:solidFill>
          <a:ln w="6350">
            <a:solidFill>
              <a:srgbClr val="24324A"/>
            </a:solidFill>
            <a:prstDash val="solid"/>
          </a:ln>
        </p:spPr>
      </p:sp>
      <p:sp>
        <p:nvSpPr>
          <p:cNvPr id="28" name="Text 26"/>
          <p:cNvSpPr/>
          <p:nvPr/>
        </p:nvSpPr>
        <p:spPr>
          <a:xfrm>
            <a:off x="944880" y="4112264"/>
            <a:ext cx="513036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22D3EE"/>
                </a:solidFill>
                <a:latin typeface="IBM Plex Sans" pitchFamily="34" charset="0"/>
                <a:ea typeface="IBM Plex Sans" pitchFamily="34" charset="-122"/>
                <a:cs typeface="IBM Plex Sans" pitchFamily="34" charset="-120"/>
              </a:rPr>
              <a:t>How do we get 1 ms?</a:t>
            </a:r>
            <a:endParaRPr lang="en-US" sz="1200" dirty="0"/>
          </a:p>
        </p:txBody>
      </p:sp>
      <p:sp>
        <p:nvSpPr>
          <p:cNvPr id="29" name="Text 27"/>
          <p:cNvSpPr/>
          <p:nvPr/>
        </p:nvSpPr>
        <p:spPr>
          <a:xfrm>
            <a:off x="944880" y="4335779"/>
            <a:ext cx="513036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DF7"/>
                </a:solidFill>
                <a:latin typeface="IBM Plex Sans" pitchFamily="34" charset="0"/>
                <a:ea typeface="IBM Plex Sans" pitchFamily="34" charset="-122"/>
                <a:cs typeface="IBM Plex Sans" pitchFamily="34" charset="-120"/>
              </a:rPr>
              <a:t>16 MHz ÷ 64 = 250 kHz; 250 ticks = 1 ms.</a:t>
            </a:r>
            <a:endParaRPr lang="en-US" sz="1200" dirty="0"/>
          </a:p>
        </p:txBody>
      </p:sp>
      <p:sp>
        <p:nvSpPr>
          <p:cNvPr id="30" name="Shape 28"/>
          <p:cNvSpPr/>
          <p:nvPr/>
        </p:nvSpPr>
        <p:spPr>
          <a:xfrm>
            <a:off x="6137275" y="4008754"/>
            <a:ext cx="5238750" cy="628650"/>
          </a:xfrm>
          <a:prstGeom prst="roundRect">
            <a:avLst>
              <a:gd name="adj" fmla="val 11616"/>
            </a:avLst>
          </a:prstGeom>
          <a:solidFill>
            <a:srgbClr val="131C2E"/>
          </a:solidFill>
          <a:ln w="6350">
            <a:solidFill>
              <a:srgbClr val="24324A"/>
            </a:solidFill>
            <a:prstDash val="solid"/>
          </a:ln>
        </p:spPr>
      </p:sp>
      <p:sp>
        <p:nvSpPr>
          <p:cNvPr id="31" name="Text 29"/>
          <p:cNvSpPr/>
          <p:nvPr/>
        </p:nvSpPr>
        <p:spPr>
          <a:xfrm>
            <a:off x="6266180" y="4112264"/>
            <a:ext cx="513036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22D3EE"/>
                </a:solidFill>
                <a:latin typeface="IBM Plex Sans" pitchFamily="34" charset="0"/>
                <a:ea typeface="IBM Plex Sans" pitchFamily="34" charset="-122"/>
                <a:cs typeface="IBM Plex Sans" pitchFamily="34" charset="-120"/>
              </a:rPr>
              <a:t>Is ADC 512 in centimetres?</a:t>
            </a:r>
            <a:endParaRPr lang="en-US" sz="1200" dirty="0"/>
          </a:p>
        </p:txBody>
      </p:sp>
      <p:sp>
        <p:nvSpPr>
          <p:cNvPr id="32" name="Text 30"/>
          <p:cNvSpPr/>
          <p:nvPr/>
        </p:nvSpPr>
        <p:spPr>
          <a:xfrm>
            <a:off x="6266180" y="4335779"/>
            <a:ext cx="513036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DF7"/>
                </a:solidFill>
                <a:latin typeface="IBM Plex Sans" pitchFamily="34" charset="0"/>
                <a:ea typeface="IBM Plex Sans" pitchFamily="34" charset="-122"/>
                <a:cs typeface="IBM Plex Sans" pitchFamily="34" charset="-120"/>
              </a:rPr>
              <a:t>No. It is a voltage level, about 2.5 V.</a:t>
            </a:r>
            <a:endParaRPr lang="en-US" sz="1200" dirty="0"/>
          </a:p>
        </p:txBody>
      </p:sp>
      <p:sp>
        <p:nvSpPr>
          <p:cNvPr id="33" name="Text 3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A6"/>
                </a:solidFill>
                <a:latin typeface="IBM Plex Sans" pitchFamily="34" charset="0"/>
                <a:ea typeface="IBM Plex Sans" pitchFamily="34" charset="-122"/>
                <a:cs typeface="IBM Plex Sans" pitchFamily="34" charset="-120"/>
              </a:rPr>
              <a:t>Smart Parking Assist · ATmega2560 bare-metal drivers · 10 / 10</a:t>
            </a:r>
            <a:endParaRPr lang="en-US" sz="1200" dirty="0"/>
          </a:p>
        </p:txBody>
      </p:sp>
    </p:spTree>
  </p:cSld>
  <p:clrMapOvr>
    <a:masterClrMapping/>
  </p:clrMapOvr>
</p:sld>
</file>

<file path=ppt/theme/theme1.xml><?xml version="1.0" encoding="utf-8"?>
<a:theme xmlns:a="http://schemas.openxmlformats.org/drawingml/2006/main" name="Smart Parking Assist">
  <a:themeElements>
    <a:clrScheme name="Smart Parking Assist">
      <a:dk1>
        <a:srgbClr val="0B1220"/>
      </a:dk1>
      <a:lt1>
        <a:srgbClr val="E6EDF7"/>
      </a:lt1>
      <a:dk2>
        <a:srgbClr val="212836"/>
      </a:dk2>
      <a:lt2>
        <a:srgbClr val="AFB6C1"/>
      </a:lt2>
      <a:accent1>
        <a:srgbClr val="22D3EE"/>
      </a:accent1>
      <a:accent2>
        <a:srgbClr val="FBBF24"/>
      </a:accent2>
      <a:accent3>
        <a:srgbClr val="9FB0C8"/>
      </a:accent3>
      <a:accent4>
        <a:srgbClr val="4ADE80"/>
      </a:accent4>
      <a:accent5>
        <a:srgbClr val="7C8DA6"/>
      </a:accent5>
      <a:accent6>
        <a:srgbClr val="12223D"/>
      </a:accent6>
      <a:hlink>
        <a:srgbClr val="0563C1"/>
      </a:hlink>
      <a:folHlink>
        <a:srgbClr val="954F72"/>
      </a:folHlink>
    </a:clrScheme>
    <a:fontScheme name="Smart Parking Assis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Parking Assist</dc:title>
  <dc:subject/>
  <dc:creator/>
  <cp:lastModifiedBy/>
  <cp:revision>1</cp:revision>
  <dcterms:created xsi:type="dcterms:W3CDTF">2026-10-11T07:55:03Z</dcterms:created>
  <dcterms:modified xsi:type="dcterms:W3CDTF">2026-10-11T07:55:03Z</dcterms:modified>
</cp:coreProperties>
</file>